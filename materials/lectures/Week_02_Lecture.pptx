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325" r:id="rId3"/>
    <p:sldId id="257" r:id="rId4"/>
    <p:sldId id="322" r:id="rId5"/>
    <p:sldId id="258" r:id="rId6"/>
    <p:sldId id="290" r:id="rId7"/>
    <p:sldId id="291" r:id="rId8"/>
    <p:sldId id="261" r:id="rId9"/>
    <p:sldId id="292" r:id="rId10"/>
    <p:sldId id="293" r:id="rId11"/>
    <p:sldId id="295" r:id="rId12"/>
    <p:sldId id="296" r:id="rId13"/>
    <p:sldId id="321" r:id="rId14"/>
    <p:sldId id="267" r:id="rId15"/>
    <p:sldId id="323" r:id="rId16"/>
    <p:sldId id="268" r:id="rId17"/>
    <p:sldId id="297" r:id="rId18"/>
    <p:sldId id="301" r:id="rId19"/>
    <p:sldId id="302" r:id="rId20"/>
    <p:sldId id="303" r:id="rId21"/>
    <p:sldId id="304" r:id="rId22"/>
    <p:sldId id="274" r:id="rId23"/>
    <p:sldId id="305" r:id="rId24"/>
    <p:sldId id="306" r:id="rId25"/>
    <p:sldId id="307" r:id="rId26"/>
    <p:sldId id="308" r:id="rId27"/>
    <p:sldId id="279" r:id="rId28"/>
    <p:sldId id="309" r:id="rId29"/>
    <p:sldId id="281" r:id="rId30"/>
    <p:sldId id="324" r:id="rId31"/>
    <p:sldId id="312" r:id="rId32"/>
    <p:sldId id="314" r:id="rId33"/>
    <p:sldId id="315" r:id="rId34"/>
    <p:sldId id="316" r:id="rId35"/>
    <p:sldId id="286" r:id="rId36"/>
    <p:sldId id="287" r:id="rId37"/>
    <p:sldId id="317" r:id="rId38"/>
    <p:sldId id="289" r:id="rId39"/>
  </p:sldIdLst>
  <p:sldSz cx="9144000" cy="5143500" type="screen16x9"/>
  <p:notesSz cx="5143500" cy="9144000"/>
  <p:custDataLst>
    <p:tags r:id="rId41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98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84" y="1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701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2–3 students to respond. Frame: most can name properties but struggle with mechanism. The answer is hydrogen bonding.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the cycle varies enormously in space and time — it is not a uniform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this to Week 1’s preparation question about bimodal rainfall. Emphasise that same physics, different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connectivity principle from Week 1 — applied spatially.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geological contrast: Guiana Shield interior (blackwater) vs. coastal marine sediments. Different geology → different water chemistry.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Omai spill was point-source; ongoing ASGM mercury is non-point. We cover ASGM mercury in detail in Week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3–4 students to discuss before summarising. Reinforce that assessment always requires landscape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 long periods ΔS → 0 and P ≈ ET + Q. In Guyana’s wet season ΔS is positive; in the dry season, negative.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TPS: 90 seconds individual, 3 minutes in breakout pairs. Reconvene and call on 2–3 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individual bonds are weak but the network effect is extraordinary. This is the molecular foundation for everything else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four properties are direct consequences of hydrogen bonding.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stratification (Week 4) and climate change effects on thermal regimes (Week 12).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epilimnion/thermocline/hypolimnion terminology here. Full treatment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tea-brown colour of blackwater rivers is dissolved humic acids. This limits primary production fundamentally.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tropical waters operate with a much smaller DO margin. Diurnal DO variation is a direct signal of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lesson: low pH ≠ pollution. Context (geology, watershed) is essential for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Conductivity is cheap, fast, and immediately informative. One of the most useful field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treatment in Week 5. Key message: don’t assume temperate paradigms apply to tropical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Data-thinking prompt. Allow 3–4 students to share predictions. Highlight: conductivity likely decreases upstream; DO may increase with less organic loading; pH depends on geology.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diurnal pH swing is a direct, measurable signal of ecosystem metabolism.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positions randomly. 2 min prep, then 1 representative per side. Key insight: both have merit; the challenge is tiered monitoring design (Week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five parameters = the vital signs. Analogous to heart rate, BP, temperature, respiratory rate in medicine.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frameworks developed in temperate systems need critical evaluation before applying to tropics.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Encourage students to articulate each mechanism chain: property → mechanism → process →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Integrative table. Students should be able to articulate each chain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names specific concepts. The preparation question previews the River Continuum Concept.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62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4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11" Type="http://schemas.openxmlformats.org/officeDocument/2006/relationships/image" Target="../media/image5.png"/><Relationship Id="rId5" Type="http://schemas.openxmlformats.org/officeDocument/2006/relationships/image" Target="../media/image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8.svg"/><Relationship Id="rId11" Type="http://schemas.openxmlformats.org/officeDocument/2006/relationships/image" Target="../media/image5.png"/><Relationship Id="rId5" Type="http://schemas.openxmlformats.org/officeDocument/2006/relationships/image" Target="../media/image7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0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0.svg"/><Relationship Id="rId11" Type="http://schemas.openxmlformats.org/officeDocument/2006/relationships/image" Target="../media/image5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6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2.svg"/><Relationship Id="rId11" Type="http://schemas.openxmlformats.org/officeDocument/2006/relationships/image" Target="../media/image5.png"/><Relationship Id="rId5" Type="http://schemas.openxmlformats.org/officeDocument/2006/relationships/image" Target="../media/image11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4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C22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Water Works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Limnology — University of Guyana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36576" cy="29260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4764024"/>
            <a:ext cx="9144000" cy="3840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47640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834F93-A416-68E5-A7BE-67CBE8AB841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453E68-A639-B3D6-D6AA-FA77993AB4A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Join at slido.com</a:t>
            </a:r>
            <a:br>
              <a:rPr lang="en-US" sz="4000" b="1">
                <a:solidFill>
                  <a:srgbClr val="000000"/>
                </a:solidFill>
              </a:rPr>
            </a:br>
            <a:r>
              <a:rPr lang="en-US" sz="4000" b="1">
                <a:solidFill>
                  <a:srgbClr val="000000"/>
                </a:solidFill>
              </a:rPr>
              <a:t>#1749267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6C6218-6387-D156-D01C-08EC96263C9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1F574AD-1748-BA34-5027-3ECA60D1022A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589ACB2-D52B-53B0-A707-D4DF298B062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1453A3-3EE8-FFD4-1FFC-90B837BF821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0175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water behave differently from most other liquids? You know some properties — ice floats, high surface tension, resistance to temperature change. But can you explain, at the molecular level, why?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what’s special about the water molecule’s structure.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0C81E5-B020-9CB2-5D3B-655399B517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C38DA-C28E-4FAF-E708-7533E85226D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makes water behave differently from most other liquids?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471814-8AD1-AD3A-FFF2-99E2A64569ED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C2A955D-C13D-0880-0EFF-DCFB7E3B995D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49A0FB12-12A8-2588-2E99-E60C0162D1B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61B5875-8E05-914B-EFF5-960DA3A423B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3060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Hydrologic Cycle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water moves between reservoirs on Earth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Global Hydrologic Cycle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movement of water driven by solar energy and gravity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fluxes: evapotranspiration, precipitation, infiltration, runoff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overland precipitation: ~116,500 km³/yr</a:t>
            </a:r>
          </a:p>
          <a:p>
            <a:pPr marL="457200" indent="-228600">
              <a:spcAft>
                <a:spcPts val="400"/>
              </a:spcAft>
              <a:buFont typeface="Arial"/>
              <a:buChar char="–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~61% returned via evapotranspiration</a:t>
            </a:r>
          </a:p>
          <a:p>
            <a:pPr marL="457200" indent="-228600">
              <a:spcAft>
                <a:spcPts val="400"/>
              </a:spcAft>
              <a:buFont typeface="Arial"/>
              <a:buChar char="–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~39% becomes runoff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08645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Hydrologic Cycle in Guyana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ITCZ-driven bimodal precipitation pattern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wet season: May–July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wet season: Nov–Jan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savannah: single wet season (Apr–Sep)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Georgetown ~2,290 mm/yr; Rupununi ~1,800 mm/yr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ENSO modulates discharge: El Niño ↓ rain; La Niña ↑ rain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13604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Watershed Concept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spatial unit of freshwater science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Watershed?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watershed is the area of land that drains to a common point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defined by topography (the ridgeline)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spatial unit — chemistry, biology, and hydrology are determined by the surrounding land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b="1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river is the product of its watershed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32459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Guyana’s Major Watersheds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major river systems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Essequibo, Demerara, Berbice, Corentyne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Essequibo: 156,828 km² — largest basin between Orinoco and Amazon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tributaries: Rupununi, Potaro, Mazaruni, Cuyuni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Coastal conservancies: engineered reservoirs for irrigation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1623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Source vs. Non-Point Source Loading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7947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 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discharge location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Sewage, factory pipes, mine tailings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monitored at source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1995 Omai cyanide spill</a:t>
            </a:r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37947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Non-Point Sources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 inputs across watershed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runoff, atmospheric deposition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Small-scale mining operations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monitor and regulate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775357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Studying the River vs. the Watershed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Assessing ecological health requires both river AND watershed context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phosphorus — sewage, agriculture, or geology?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diversity — pollution or naturally acidic blackwater?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Underpins modern bioassessment (EU WFD, CCME) — Week 8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054790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Water Balance Equation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6949440" cy="1097280"/>
          </a:xfrm>
          <a:prstGeom prst="roundRect">
            <a:avLst>
              <a:gd name="adj" fmla="val 8333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097280"/>
            <a:ext cx="67665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1188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 = ET + Q + ΔS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645920" y="2560320"/>
            <a:ext cx="365760" cy="365760"/>
          </a:xfrm>
          <a:prstGeom prst="ellipse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25420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(input)</a:t>
            </a:r>
          </a:p>
        </p:txBody>
      </p:sp>
      <p:sp>
        <p:nvSpPr>
          <p:cNvPr id="11" name="Shape 9"/>
          <p:cNvSpPr/>
          <p:nvPr/>
        </p:nvSpPr>
        <p:spPr>
          <a:xfrm>
            <a:off x="1645920" y="3063240"/>
            <a:ext cx="365760" cy="3657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459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0449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Evapotranspiration (output)</a:t>
            </a:r>
          </a:p>
        </p:txBody>
      </p:sp>
      <p:sp>
        <p:nvSpPr>
          <p:cNvPr id="14" name="Shape 12"/>
          <p:cNvSpPr/>
          <p:nvPr/>
        </p:nvSpPr>
        <p:spPr>
          <a:xfrm>
            <a:off x="1645920" y="3566160"/>
            <a:ext cx="365760" cy="365760"/>
          </a:xfrm>
          <a:prstGeom prst="ellipse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64592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5478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Runoff/discharge (output)</a:t>
            </a:r>
          </a:p>
        </p:txBody>
      </p:sp>
      <p:sp>
        <p:nvSpPr>
          <p:cNvPr id="17" name="Shape 15"/>
          <p:cNvSpPr/>
          <p:nvPr/>
        </p:nvSpPr>
        <p:spPr>
          <a:xfrm>
            <a:off x="1645920" y="4069080"/>
            <a:ext cx="365760" cy="365760"/>
          </a:xfrm>
          <a:prstGeom prst="ellipse">
            <a:avLst/>
          </a:prstGeom>
          <a:solidFill>
            <a:srgbClr val="2D8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64592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ΔS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40280" y="4050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storage (groundwater)</a:t>
            </a:r>
          </a:p>
        </p:txBody>
      </p:sp>
      <p:sp>
        <p:nvSpPr>
          <p:cNvPr id="20" name="Text 18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138810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were designing a water quality monitoring network for the Essequibo River basin, would you place stations only in the river, or also in the watershed? What would you measure at each?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what upstream land use tells you that downstream water chemistry alone cannot.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81A9CE-D8A0-B3E6-DECA-1BD55EEE5A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2DF5C1-1323-093E-9C7B-8F539AFBF9CA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000" b="1">
                <a:solidFill>
                  <a:srgbClr val="000000"/>
                </a:solidFill>
              </a:rPr>
              <a:t>Would you place stations only in the river, or also in the watershed? What would you measure at each?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D7B82C-B787-9C9A-C5EE-00236B2DF121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C7E3B47-72E2-EF1F-222C-818D001AE306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97B54DB-BA95-709C-F1FC-CC95CBAFEFC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C1C1A91-BC3B-F13F-3BD3-7F39573584AE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4936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Physical Properties of Water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hydrogen bonding changes everything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Hydrogen Bond: Origin of Water’s Anomalies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Polar molecule: bond angle 104.5°, permanent dipole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H-bonds: ~20 kJ/mol (vs. 460 kJ/mol for covalent O–H)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~2.4–3.6 bonds per molecule at any instant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network → anomalous properties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H-bonds: water would boil at ~−80°C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458295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Anomalous Properties of Water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1188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2628" y="960120"/>
            <a:ext cx="17373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98348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Specific Heat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4,184 J/(kg·K)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temperatures</a:t>
            </a:r>
          </a:p>
        </p:txBody>
      </p:sp>
      <p:sp>
        <p:nvSpPr>
          <p:cNvPr id="9" name="Shape 7"/>
          <p:cNvSpPr/>
          <p:nvPr/>
        </p:nvSpPr>
        <p:spPr>
          <a:xfrm>
            <a:off x="2528316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19756" y="960120"/>
            <a:ext cx="17373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65476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Heat of Vaporization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38044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2,257 kJ/kg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Evaporative cooling</a:t>
            </a:r>
          </a:p>
        </p:txBody>
      </p:sp>
      <p:sp>
        <p:nvSpPr>
          <p:cNvPr id="13" name="Shape 11"/>
          <p:cNvSpPr/>
          <p:nvPr/>
        </p:nvSpPr>
        <p:spPr>
          <a:xfrm>
            <a:off x="4695444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86884" y="960120"/>
            <a:ext cx="17373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32604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Density Max at 3.98°C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5172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floats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stratify</a:t>
            </a:r>
          </a:p>
        </p:txBody>
      </p:sp>
      <p:sp>
        <p:nvSpPr>
          <p:cNvPr id="17" name="Shape 15"/>
          <p:cNvSpPr/>
          <p:nvPr/>
        </p:nvSpPr>
        <p:spPr>
          <a:xfrm>
            <a:off x="6862572" y="960120"/>
            <a:ext cx="1920240" cy="3566160"/>
          </a:xfrm>
          <a:prstGeom prst="roundRect">
            <a:avLst>
              <a:gd name="adj" fmla="val 4762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54012" y="960120"/>
            <a:ext cx="1737360" cy="45720"/>
          </a:xfrm>
          <a:prstGeom prst="rect">
            <a:avLst/>
          </a:prstGeom>
          <a:solidFill>
            <a:srgbClr val="2D8B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9732" y="1143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8B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Universal Solvent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72300" y="1737360"/>
            <a:ext cx="1700784" cy="25603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solvent</a:t>
            </a:r>
          </a:p>
          <a:p>
            <a:pPr marL="0" indent="0" algn="ctr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nutrients &amp; contaminants</a:t>
            </a:r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104273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Specific Heat and Thermal Buffering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4,184 J/(kg·K) — second-highest of common liquids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Lakes and rivers resist rapid temperature swings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Rupununi reservoir: ~2–3°C diurnal swing vs. ~10°C in air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pollution persists — heat is retained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489922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Density Anomaly and Stratification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density at 3.98°C — most liquids densify continuously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 floats → insulates liquid → aquatic life survives winter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Epilimnion (warm) sits above hypolimnion (cold)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Thermocline = zone of most rapid temperature change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Tropics: subtle density differences; wind may drive mixing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20831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 in Water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attenuates exponentially with depth (Beer-Lambert law)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Euphotic zone: depth receiving 1% of surface PAR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oligotrophic lakes: &gt;20 m deep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 blackwater: &lt;1 m — humic acids absorb strongly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Secchi disk: simplest field measure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72535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Aquatic Chemistry Essentials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variables that define a waterbody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Dissolved Oxygen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solubility inversely related to temperature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0°C → 14.6 mg/L  |  25°C → 8.3 mg/L  |  30°C → 7.5 mg/L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28°C (Guyana): saturation ≈ 7.8 mg/L — barely above 5 mg/L minimum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Hypoxia: &lt; 2 mg/L; Anoxia: 0 mg/L → P release, H₂S, Hg methylation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7480910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 and Alkalinity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= −log[H⁺]; logarithmic — 1 unit = 10× change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range for freshwater organisms: pH 6.5–8.5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pH → Al toxicity | High pH → un-ionised NH₃ toxicity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Alkalinity = buffering capacity (high on limestone, low on Shield)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Guyana blackwater: pH 3.5–5.5 — organic acids, not pollution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702295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Conductivity and Total Dissolved Solids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conductance (µS/cm at 25°C) — proportional to ion concentration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Blackwater: 10–50 | Freshwater: 50–1,500 | Seawater: ~50,000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(mg/L) ≈ 0.65 × conductivity (µS/cm)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use: detect pollution spikes, saline intrusion, tributary mixing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4530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Nutrients: Nitrogen &amp; Phosphorus (Preview)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limiting nutrient in most temperate lakes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Schindler Lake 226: P+N+C side bloomed; N+C stayed clear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N-limitation may be more common in tropics (Lewis 1996, 2002)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Fadum et al. (2023): heterogeneous limitation; co-limitation common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Redfield ratio (16:1 N:P): heuristic for predicting limitation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568862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you had a multiparameter sonde and one day on the Demerara River, what would you measure, where would you measure it, and what pattern would you expect from Georgetown to 50 km upstream?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how T, DO, pH, and conductivity might change as you move from tidal, urbanised coast upstream toward forested reaches.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Carbonate Buffering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+ H₂O ⇌ H₂CO₃ ⇌ HCO₃⁻ ⇌ CO₃²⁻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&lt;6.3: CO₂ dominates | 6.3–10.3: HCO₃⁻ (buffering) | &gt;10.3: CO₃²⁻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Photosynthesis removes CO₂ → ↑pH; Respiration adds CO₂ → ↓pH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Diurnal pH oscillation &gt;1 unit in eutrophic waters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Blackwater: buffering dominated by organic acids, not carbonates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93803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731520"/>
            <a:ext cx="731520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" y="731520"/>
            <a:ext cx="713232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4440" y="100584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DISCUSSION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234440" y="141732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C2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Mini-debate — Guyana has limited monitoring resources. Position A: Prioritise the blackwater interior rivers (data-poor, ecologically unique, ASGM-threatened). Position B: Prioritise coastal systems (population-dense, agriculture, saline intrusion). Make your case.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352044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82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data gaps, population served, ecological irreplaceability, economic value, urgency of threats.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3FC516-5E5C-9821-9400-815D1AD10B9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83B3F8-3681-8124-1FDF-797C09B607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Position A or Position B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E8B89F-D8DF-6838-C439-1B91155C79D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700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B4DEE70-01AE-F815-2310-90F4880BB6B3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E101A58-DF0A-E6CA-0A5B-00A7D5CB5757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B98D2C-357B-1B46-0B10-D5F55C3B7572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9739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Field Measurements: The Vital Signs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24231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Temperature &amp; DO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24028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structure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 rates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Aerobic capacity</a:t>
            </a:r>
          </a:p>
        </p:txBody>
      </p:sp>
      <p:sp>
        <p:nvSpPr>
          <p:cNvPr id="9" name="Shape 7"/>
          <p:cNvSpPr/>
          <p:nvPr/>
        </p:nvSpPr>
        <p:spPr>
          <a:xfrm>
            <a:off x="3172968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423160" cy="45720"/>
          </a:xfrm>
          <a:prstGeom prst="rect">
            <a:avLst/>
          </a:prstGeom>
          <a:solidFill>
            <a:srgbClr val="17BEB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BEB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 &amp; Alkalinity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645920"/>
            <a:ext cx="224028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Buffering capacity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activity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 vs. organic acids</a:t>
            </a:r>
          </a:p>
        </p:txBody>
      </p:sp>
      <p:sp>
        <p:nvSpPr>
          <p:cNvPr id="13" name="Shape 11"/>
          <p:cNvSpPr/>
          <p:nvPr/>
        </p:nvSpPr>
        <p:spPr>
          <a:xfrm>
            <a:off x="5971032" y="96012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62472" y="960120"/>
            <a:ext cx="24231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53912" y="11430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Conductivity &amp; Secchi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53912" y="1645920"/>
            <a:ext cx="224028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 composition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detection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&amp; trophic state</a:t>
            </a:r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6703894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Tropical vs. Temperate: Key Differences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379476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Temperate Systems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seasonal T range (0–25°C)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seasons drive mixing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DO saturation in winter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Carbonate-buffered geology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P-limitation well-supported</a:t>
            </a:r>
          </a:p>
        </p:txBody>
      </p:sp>
      <p:sp>
        <p:nvSpPr>
          <p:cNvPr id="9" name="Shape 7"/>
          <p:cNvSpPr/>
          <p:nvPr/>
        </p:nvSpPr>
        <p:spPr>
          <a:xfrm>
            <a:off x="4800600" y="960120"/>
            <a:ext cx="3977640" cy="3657600"/>
          </a:xfrm>
          <a:prstGeom prst="roundRect">
            <a:avLst>
              <a:gd name="adj" fmla="val 2500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92040" y="960120"/>
            <a:ext cx="3794760" cy="4572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11430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4A01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Tropical Systems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45920"/>
            <a:ext cx="3520440" cy="2743200"/>
          </a:xfrm>
          <a:prstGeom prst="rect">
            <a:avLst/>
          </a:prstGeom>
          <a:noFill/>
          <a:ln/>
        </p:spPr>
        <p:txBody>
          <a:bodyPr wrap="square" lIns="25400" tIns="63500" rIns="63500" bIns="25400" rtlCol="0" anchor="t"/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 range (24–31°C)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density gradients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DO at baseline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acid chemistry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N-limitation more common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Enormous data gaps</a:t>
            </a:r>
          </a:p>
        </p:txBody>
      </p:sp>
      <p:sp>
        <p:nvSpPr>
          <p:cNvPr id="13" name="Text 11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16262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Mid-Lecture Recap: Key Mechanisms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7680960" cy="356616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anomaly → stratification → habitat zonation, O₂ distribution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heat → thermal buffering → stable habitats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attenuation → euphotic zone depth → production limits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solubility → O₂ stratification → fish kills, redox chemistry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Carbonate system → pH buffering → acid sensitivity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093270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 → Mechanism → Process → Consequence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Hydrologic cycle: P, ET, Q, ΔS — partitioning varies with climate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Watershed = fundamental spatial unit; a river reflects its catchment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H-bonding → anomalous properties (specific heat, density, vaporization)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T, DO, pH, conductivity, Secchi = vital signs of aquatic systems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Tropical systems: narrower T, lower DO, different nutrients, huge data gaps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9198208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914400"/>
            <a:ext cx="36576" cy="3200400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E4A0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097280" y="13716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Water is H₂O, hydrogen two parts, oxygen one, but there is also a third thing that makes it water and nobody knows what that is.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38404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D.H. Lawrence, ‘The Third Thing’ (1928)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2606040"/>
            <a:ext cx="2743200" cy="18288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Looking Ahead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fundamentals to systems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C35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77240"/>
            <a:ext cx="91440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Week: Rivers &amp; Streams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2439"/>
            </a:avLst>
          </a:prstGeom>
          <a:solidFill>
            <a:srgbClr val="F7F9FB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43000"/>
            <a:ext cx="7863840" cy="3383280"/>
          </a:xfrm>
          <a:prstGeom prst="rect">
            <a:avLst/>
          </a:prstGeom>
          <a:noFill/>
          <a:ln/>
        </p:spPr>
        <p:txBody>
          <a:bodyPr wrap="square" lIns="63500" tIns="127000" rIns="127000" bIns="6350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Lotic Ecology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geomorphology and channel classification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 Continuum Concept (Vannote et al., 1980)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measurement and hydrograph analysis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matter: allochthonous vs. autochthonous inputs</a:t>
            </a:r>
          </a:p>
          <a:p>
            <a:pPr marL="228600" indent="-228600">
              <a:spcAft>
                <a:spcPts val="500"/>
              </a:spcAft>
              <a:buFont typeface="Arial"/>
              <a:buChar char="•"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Sioli's classification and Guyana's lotic systems</a:t>
            </a:r>
          </a:p>
        </p:txBody>
      </p:sp>
      <p:sp>
        <p:nvSpPr>
          <p:cNvPr id="8" name="Text 6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82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86986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8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 of Week 2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27432"/>
          </a:xfrm>
          <a:prstGeom prst="rect">
            <a:avLst/>
          </a:prstGeom>
          <a:solidFill>
            <a:srgbClr val="E4A0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B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Rivers &amp; Streams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764024"/>
            <a:ext cx="9144000" cy="38404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476402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Limnology  │  University of Guyana</a:t>
            </a:r>
            <a:endParaRPr lang="en-US" sz="10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d382256c-86d4-4cc0-93ce-709f28338c1f"/>
  <p:tag name="SLIDO_EVENT_UUID" val="f76320ab-516c-4b37-8c7e-502bdf924ba3"/>
  <p:tag name="SLIDO_EVENT_SECTION_UUID" val="fb001086-e198-486d-80b9-1f16665b11a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Joinin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Joi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c72c34fe-6e28-4a27-bc7e-13fa1442e5f3"/>
  <p:tag name="SLIDO_TIMELINE" val="W3sic2hvd1Jlc3VsdHMiOnRydWUsInBvbGxRdWVzdGlvblV1aWQiOiI2NDFjMTJmMi02ODljLTRkNGEtOWNlYi1iZDc4OWU3MzhmNDIifV0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WordClou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723fb0d-fb58-4df3-811d-683164ca8a7d"/>
  <p:tag name="SLIDO_TIMELINE" val="W3sic2hvd1Jlc3VsdHMiOnRydWUsInBvbGxRdWVzdGlvblV1aWQiOiJmZDRiM2E1OC1lZjQ2LTRjZDEtODU0MS05NDc1ZjhiYmNiZDQifV0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be77a24-734f-4c56-8cf4-43c955cc94e4"/>
  <p:tag name="SLIDO_TIMELINE" val="W3sic2hvd1Jlc3VsdHMiOnRydWUsInBvbGxRdWVzdGlvblV1aWQiOiIwMTNlMDFjZC02YjlhLTQxMGItOWI0My04MDY0MmVkMWRmYWYifV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Rankin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72CCC1-2D59-6143-8871-AAD92D65B49E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1683</TotalTime>
  <Words>2330</Words>
  <Application>Microsoft Macintosh PowerPoint</Application>
  <PresentationFormat>On-screen Show (16:9)</PresentationFormat>
  <Paragraphs>286</Paragraphs>
  <Slides>38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Georgia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Ajay Arjoon</cp:lastModifiedBy>
  <cp:revision>4</cp:revision>
  <dcterms:created xsi:type="dcterms:W3CDTF">2026-02-21T18:31:47Z</dcterms:created>
  <dcterms:modified xsi:type="dcterms:W3CDTF">2026-03-07T17:29:51Z</dcterms:modified>
</cp:coreProperties>
</file>