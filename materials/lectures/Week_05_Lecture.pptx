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students to hypothesise. Do not resolve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EEA data: ~40% of all European surface waters achieve good status. Lake-specific failure rate is ~44%. The broader message about nutrient pollution dominance is robust.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Nutrients, Eutrophication,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Wetlands &amp; Estuaries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Cycling · Internal Loading · Cyanobacterial Blooms · Hydroperiod · Ecosystem Services · Flood Pulse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3108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097280"/>
            <a:ext cx="6949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 lake manager. Your lake is eutrophic — green water, algal blooms every summer, hypolimnetic anoxia. You upgrade the sewage treatment plant. External P loading drops 50%. Five years pass. The lake is still eutrophic.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you learned about redox chemistry and sediment processes.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291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365760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Nutrients &amp; Eutrophication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cycling — forms, accumulation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cycling — gaseous escape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 nutrients — Schindler → tropics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Eutrophication cascade &amp; internal loading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Cyanobacterial blooms &amp; cyanotoxins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Hysteresis, management, Guyana 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657600" cy="3291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6576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Wetlands &amp; Estuaries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defines a wetland — types, hydroperiod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services — disproportionate value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Biogeochemistry — GHG paradox, nutrients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Estuaries — salinity, mixing, productivity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Mangroves — Guyana's coastal defence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Rupununi, constructed wetlands, Ramsar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Freshwater Phosphorus 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5544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73152" cy="1554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Loading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inputs: weathering, agriculture, sewage, atmospheric deposition (minor for P)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657600" cy="15544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 Uptake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463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Phytoplankton/macrophytes assimilate SRP; some species do luxury uptake as polyphosphate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3657600" cy="15544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743200"/>
            <a:ext cx="73152" cy="1554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Sedimentation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200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biomass and P-bearing particles settle; sediments store orders of magnitude more P than water column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657600" cy="15544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74320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Loading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200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Anoxia dissolves Fe oxyhydroxides → releases adsorbed P (Mortimer mechanism). Direct coupling: DO dynamics → nutrient cycling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Gaseous Escape: Why P Accumulates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3291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18872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has no significant gaseous phase — unlike N (N₂, N₂O, NH₃).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exists only in dissolved or particulate forms. No 'dephosphorisation' equivalent to denitrification.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 function as phosphorus traps. P accumulates in sediments over decades, building legacy reserves.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can only leave via export in surface outflow or long-term burial in sediments.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is always more effective than remediation.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Nitrogen — The Contrasting 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73152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N₂ Fixation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N₂ → ammonium by cyanobacteria. Occurs when dissolved inorganic N is scarce.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768096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74520"/>
            <a:ext cx="73152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Nitrification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NH₄⁺ → NO₂⁻ → NO₃⁻ (aerobic, consumes O₂, produces H⁺).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74320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Denitrification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NO₃⁻ → N₂ gas (anaerobic). Permanently removes bioavailable 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768096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611880"/>
            <a:ext cx="73152" cy="7315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Ammonification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N → NH₄⁺ (decomposition/mineralisation).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from P: denitrification provides a permanent N removal pathway that P lacks.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Limiting Nutrients — Liebig to Schindler to the Tropics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3474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097280"/>
            <a:ext cx="7132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Liebig's Law (1840):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limited by the resource in shortest supply relative to demand.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Redfield (1958):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Phytoplankton C:N:P = 106:16:1. If N:P &gt; ~16:1 → P limiting. If &lt; ~10:1 → N limiting.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Schindler's ELA experiments (1974, 2008):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226 divided — P basin turned green, non-P basin stayed clear.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37-year follow-up: lake remained eutrophic on P alone (Schindler et al., 2008, PNAS).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tropical complication: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(2002): tropical lakes more frequently N-limited.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Elser et al. (2007): co-limitation common globally.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Fadum et al. (2023): heterogeneity — test before assuming.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Eutrophication: A Global Crisis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468880" cy="3200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European surface waters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'good ecological status'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nutrient enrichment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driver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(EEA reporting)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20440" y="1005840"/>
            <a:ext cx="2468880" cy="3200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188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$2.2B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703320" y="22860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freshwater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eutrophication in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alone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(Dodds et al., 2009)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468880" cy="3200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188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&gt;500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coastal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zones globally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nutrient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(Breitburg et al., 2018)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Internal Loading Feedback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3200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097280"/>
            <a:ext cx="32004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external P loading → increased water column 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1554480"/>
            <a:ext cx="32004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Phytoplankton biomass increases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011680"/>
            <a:ext cx="32004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011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die-off → decomposition consumes hypolimnetic O₂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2468880"/>
            <a:ext cx="32004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4688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Hypolimnion becomes anoxic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2926080"/>
            <a:ext cx="32004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2926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oxyhydroxides dissolve → release adsorbed P (Mortimer mechanism)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338328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33832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P fuels more growth → back to Step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external loading is dramatically reduced, legacy sediment P can sustain the cycle.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Cyanobacteria Dominate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5544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optima 25–35°C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Outcompete diatoms and greens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657600" cy="15544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6576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Buoyancy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vesicle regulation — a hallmark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of bloom-forming cyanobacteria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3657600" cy="15544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74320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N₂ Fixation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atmospheric N₂ when dissolved N scarce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 under N limitation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657600" cy="15544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74320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Grazing Resistance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246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Colonies/filaments too large for Daphnia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Clog zooplankton feeding apparatus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Cyanotoxins: A Public Health Concern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33832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09728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Microcystins: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hepatotoxins. WHO guideline: 1 µg/L microcystin-LR in drinking water.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Cylindrospermopsin: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Raphidiopsis raciborskii (tropical species). Stable; not removed by boiling.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Anatoxin-a and saxitoxin: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neurotoxins. Documented livestock and dog deaths.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Toledo 2014: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microcystin in Lake Erie left ~400,000 without safe water for ~3 days.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 lacks routine cyanotoxin monitoring — a significant public health gap.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Hysteresis &amp; Management Tools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3657600" cy="13716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05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(Scheffer et al., 2001)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 loading that causes eutrophication ≠ the P loading required to reverse it. Recovery requires reductions well below the degradation threshold.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657600" cy="1188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603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1: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loading feedback — legacy sediment P sustains eutrophication.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2: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shallow lakes, loss of macrophytes removes stabilising feedbacks (Scheffer et al., 1993).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65760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51560"/>
            <a:ext cx="36576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960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Loading Reduction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9240" y="1261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Sewage upgrades, agricultural BMPs, buffer strips, P bans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365760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920240"/>
            <a:ext cx="36576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Loading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2130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 dredging, Al/Fe dosing, hypolimnetic aeration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51760"/>
            <a:ext cx="365760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788920"/>
            <a:ext cx="36576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Biomanipulation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2999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planktivores → Daphnia recover → graze phytoplankton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520440"/>
            <a:ext cx="365760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657600"/>
            <a:ext cx="36576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Constructed Wetlands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3867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nutrient-rich runoff before reaching receiving waters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Study: East Demerara Water Conservancy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33832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09728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impoundment, catchment ~582 km². Constructed in the 1880s.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~60% of Georgetown's drinking water. Serves &gt;500,000 coastal residents.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Eutrophication risk factors: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(~1–2 m depth), warm year-round, agricultural drainage, increasing population, minimal monitoring.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long-term nutrient or cyanotoxin monitoring dataset has been published.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nutrient survey + cyanotoxin screening would be genuinely important and publishable applied limnological research.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A: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7772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traps, N escapes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has no gaseous phase and accumulates; N cycles through gaseous forms via fixation and denitrification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7772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2024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65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in the tropics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Schindler demonstrated P limitation; Lewis, Elser, Fadum show N- and co-limitation are common tropically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7680960" cy="7772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83464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loading = hysteresis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200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sediment P sustains eutrophication via the Mortimer mechanism even after external inputs reduced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4904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794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Cyanobacteria win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stratified, nutrient-rich water selects for toxic, grazing-resistant, N-fixing organisms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B: Wetlands &amp; Estuaries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Hydroperiod, Biogeochemistry, Flood Pulse, and Estuarine Mixing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Defines a Wetland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3657600" cy="13716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05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Cowardin et al. (1979): one or more of: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Hydrophytic vegetation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Hydric soils (gleying, mottling)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Saturated substrate during growing season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657600" cy="6400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91440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932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Marshes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3480" y="1216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Herbaceous emergent, high productivity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657600" cy="6400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9164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709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Swamps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Forested — Mora, mangroves in Guyana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3657600" cy="6400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46888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Rain-fed, acidic, peat-forming (boreal)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3657600" cy="6400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4612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264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Groundwater-fed, richer plant communities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Wetlands: Disproportionate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468880" cy="14630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6–8%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Earth's land surface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20440" y="1005840"/>
            <a:ext cx="2468880" cy="14630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097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$14,785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ha/yr (1997 USD,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Costanza et al.)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468880" cy="14630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097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since 1970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(Ramsar GWO, 2018)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3657600" cy="6858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Purification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Denitrification removes substantial fraction of incoming nitrate; P adsorption; sediment trapping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697480"/>
            <a:ext cx="3657600" cy="6858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 Attenuation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peak flows. Guyana: 2005 flood displaced 37% of population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520440"/>
            <a:ext cx="3657600" cy="6858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538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Carbon Storage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822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Peatlands: 3–4% land, up to 1/3 of soil carbon (~600 Gt C). Blue carbon in mangroves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657600" cy="6858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3538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Biodiversity Habitat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822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species live/breed in wetlands. 75% of marine fisheries depend on estuaries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GHG Paradox &amp; Nutrient 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3657600" cy="3291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60120"/>
            <a:ext cx="3657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GHG Paradox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 wetlands: massive carbon stores + methane emissions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 GWP: ~28–34× CO₂ over 100 years (IPCC AR6)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Peatlands: 3–4% of land, up to 1/3 of soil carbon (~600 Gt C)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Drained peatlands: ~4% of annual global anthropogenic GHG emissions (UNEP, 2022)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keeping wetlands intact is strongly climate-positive over centennial timescales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657600" cy="3291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60120"/>
            <a:ext cx="3657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removal — denitrification (permanent)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NO₃⁻ → N₂ (gas). Heavy loads → N₂O (GWP ~273× CO₂)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retention — adsorption (finite)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Fe/Al oxyhydroxides; released under reducing conditions (Fe³⁺ → Fe²⁺)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internal loading mechanism as stratified lakes (Part 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Estuaries — Where Rivers Meet the Sea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468880" cy="21031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246888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Salt Wedge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River-dominated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tidal mixing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halocline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1005840"/>
            <a:ext cx="2468880" cy="21031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1005840"/>
            <a:ext cx="24688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Partially Mixed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03320" y="15087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tidal energy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vertical stratification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type globally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468880" cy="21031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005840"/>
            <a:ext cx="246888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Well-Mixed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Tide-dominated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Vertically homogeneous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tidal energy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7680960" cy="1005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4290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nutrient subsidy: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terrestrial (river discharge) + marine (tidal exchange) in shallow, well-lit environment.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commercially harvested marine fish and shellfish depend on estuaries at some life stage.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Guyana's seabob shrimp fishery is fundamentally estuarine-dependent.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Mangroves — Guyana's First Line of Defence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3657600" cy="1645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058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of population on coastal plain below sea level at high tide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280-mile seawall (from 1855) — primary hard infrastructure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NAREI Mangrove Restoration Project (2010, EU-funded)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flood displaced 37% of national population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rise: 0.5–2 m by 2100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657600" cy="502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91440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932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Wave Attenuation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83480" y="1152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66% energy reduction per 100 m of forest width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657600" cy="502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572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Carbon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7922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sequestration in waterlogged sediments over centuries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3657600" cy="502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9456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212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Fisheries Nursery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4323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root refuge for juvenile fish and shrimp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3657600" cy="502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3464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Sediment Stability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0723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 trap sediment, building coastline against erosion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Green-grey integration: mangroves as first line, seawalls as backup.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Rupununi — Flood Pulse &amp; the Amazon Portal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33832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09728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~57,750 km² (Region 9) — one of the most biodiverse areas in South America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known species; harbours a large majority of Guyana's birds, mammals, and fish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flooding May–September: 4–10 m water level fluctuation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Rupununi Portal: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Essequibo–Rio Branco connection via Pirara Creek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Arapaima crossed via Portal — only Guianan river with this Amazonian species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portal species: Black Caiman, Victoria amazonica, Podocnemis expansa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Makushi &amp; Wapishana communities: fish is a primary source of dietary protein (Mistry et al., 2004)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significant and critically under-studied.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Constructed Wetlands — Engineering the Kidney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3657600" cy="20116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60120"/>
            <a:ext cx="365760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Water Surface (FWS)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flows over exposed surface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vegetation (Typha, Phragmites)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polishing &amp; wildlife habitat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Mosquito habitat concern in tropics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657600" cy="20116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60120"/>
            <a:ext cx="3657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Subsurface Flow (SSF)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flows through gravel/sand bed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standing water visible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BOD/TSS removal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mosquito habitat — key for tropics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29184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CW performance: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 ~70–90%, TSS ~85%+ (Zhang et al., 2015). Hybrid systems often improve TN removal substantially.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energy, community-maintainable, appropriate for decentralised sanitation.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CW pilot data from Guyana identified — a research gap and opportunity.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Wetland Loss &amp; the Ramsar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3657600" cy="18288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515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Wetland Loss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Davidson (2014): 54–57% average loss, as high as 87% since 1700 AD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Ramsar GWO (2018): 35% decline 1970–2015 — 3× the rate of forest loss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update: ~22% (revised methodology)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0" y="960120"/>
            <a:ext cx="3657600" cy="18288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10515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Ramsar Question for Rupununi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multiple Ramsar criteria: representative type, biotic exchange, endangered species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sovereignty, indigenous rights, mining interests, enforcement capacity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'Wise use' does not prohibit human use — requires sustainable use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1089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Wapishana and Macushi communities must be central to any designation process.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3108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097280"/>
            <a:ext cx="6949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EDWC experienced a major cyanobacterial bloom, and you were asked to design a response combining nutrient source control with a constructed wetland to intercept agricultural runoff: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would you measure? Where would you site the wetland? What design would you choose?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nutrient limitation, internal loading, wetland biogeochemistry, and tropical design constraints.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60120"/>
            <a:ext cx="73152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978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traps, N escapes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978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asymmetry drives eutrophication management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00200"/>
            <a:ext cx="73152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618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before assuming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1618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Co-limitation and N-limitation common in tropics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240280"/>
            <a:ext cx="7315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258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loading = hysteresis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always harder than degradation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7680960" cy="502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880360"/>
            <a:ext cx="73152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898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Cyanobacteria thrive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2898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exactly the conditions eutrophication and warming create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7680960" cy="502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52044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5387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Hydroperiod is the master variable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3538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soil, vegetation, redox, and all wetland functions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16052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178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Guyana's wetlands are globally significant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4178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Mangroves and Rupununi: critically under-studied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Schindler argued in 1974 that cultural eutrophication is the single most damaging and widespread form of water pollution in the world.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assessment remains as relevant today as it was fifty years ago.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Week: Plankton &amp; Biodiversity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29260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188720"/>
            <a:ext cx="7132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Phytoplankton diversity and functional groups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Zooplankton ecology — Cladocera, Daphnia, grazing dynamics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cascades and pelagic food webs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Plankton as environmental indicators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vs. temperate plankton communities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Priming question: If you removed all the large-bodied Daphnia from a lake, what would happen to the phytoplankton community — and why?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of Weeks 5–6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Plankton &amp; Biodiversity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 │  University of Guyana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Weeks 5-6: Nutrients, Eutrophication, Wetlands &amp; Estuaries</dc:title>
  <dc:subject>PptxGenJS Presentation</dc:subject>
  <dc:creator>Ajay Persaud</dc:creator>
  <cp:lastModifiedBy>Ajay Persaud</cp:lastModifiedBy>
  <cp:revision>1</cp:revision>
  <dcterms:created xsi:type="dcterms:W3CDTF">2026-04-10T23:03:59Z</dcterms:created>
  <dcterms:modified xsi:type="dcterms:W3CDTF">2026-04-10T23:03:59Z</dcterms:modified>
</cp:coreProperties>
</file>