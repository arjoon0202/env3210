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2.xml" ContentType="application/vnd.openxmlformats-officedocument.presentationml.notesSlid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3"/>
  </p:notesMasterIdLst>
  <p:sldIdLst>
    <p:sldId id="256" r:id="rId2"/>
    <p:sldId id="328" r:id="rId3"/>
    <p:sldId id="331" r:id="rId4"/>
    <p:sldId id="332" r:id="rId5"/>
    <p:sldId id="333" r:id="rId6"/>
    <p:sldId id="334" r:id="rId7"/>
    <p:sldId id="257" r:id="rId8"/>
    <p:sldId id="326" r:id="rId9"/>
    <p:sldId id="288" r:id="rId10"/>
    <p:sldId id="299" r:id="rId11"/>
    <p:sldId id="289" r:id="rId12"/>
    <p:sldId id="261" r:id="rId13"/>
    <p:sldId id="290" r:id="rId14"/>
    <p:sldId id="291" r:id="rId15"/>
    <p:sldId id="264" r:id="rId16"/>
    <p:sldId id="292" r:id="rId17"/>
    <p:sldId id="302" r:id="rId18"/>
    <p:sldId id="293" r:id="rId19"/>
    <p:sldId id="308" r:id="rId20"/>
    <p:sldId id="269" r:id="rId21"/>
    <p:sldId id="294" r:id="rId22"/>
    <p:sldId id="306" r:id="rId23"/>
    <p:sldId id="295" r:id="rId24"/>
    <p:sldId id="273" r:id="rId25"/>
    <p:sldId id="313" r:id="rId26"/>
    <p:sldId id="324" r:id="rId27"/>
    <p:sldId id="327" r:id="rId28"/>
    <p:sldId id="276" r:id="rId29"/>
    <p:sldId id="296" r:id="rId30"/>
    <p:sldId id="278" r:id="rId31"/>
    <p:sldId id="330" r:id="rId32"/>
    <p:sldId id="312" r:id="rId33"/>
    <p:sldId id="280" r:id="rId34"/>
    <p:sldId id="281" r:id="rId35"/>
    <p:sldId id="320" r:id="rId36"/>
    <p:sldId id="315" r:id="rId37"/>
    <p:sldId id="319" r:id="rId38"/>
    <p:sldId id="325" r:id="rId39"/>
    <p:sldId id="329" r:id="rId40"/>
    <p:sldId id="321" r:id="rId41"/>
    <p:sldId id="287" r:id="rId42"/>
  </p:sldIdLst>
  <p:sldSz cx="9144000" cy="5143500" type="screen16x9"/>
  <p:notesSz cx="5143500" cy="9144000"/>
  <p:custDataLst>
    <p:tags r:id="rId44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3095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184" y="1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841687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Allow 3–4 students to respond. Frame: this simple question requires atmospheric science, hydrology, chemistry, engineering, governance. That’s limnology.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 the integrated approach over taxonomic organisation.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arithmetic: 0.3% of 2.5% = 0.007%. This fraction supports most human demand and aquatic biodiversity.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Reference the visual concept of a pie chart where freshwater is barely a sliver.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establishes Guyana as a natural laboratory for limnology with exceptional hydrological diversity.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First concrete illustration of the connectivity theme. Emphasise that this is a globally significant biogeographic feature.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Framework from Dudgeon et al. 2006. Give Guyana examples for pollution (ASGM mercury) and habitat destruction.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 the disproportionality: less than 1% of area, one-third of vertebrates.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Strayer &amp; Dudgeon (2010) called freshwater ‘the most endangered ecosystems in the world.’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IWMI framework. Guyana is economically water-scarce despite being hydrologically rich.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 that the supporting-regulating distinction has been revised in IPBES but the MA scheme remains widely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Freshwater systems deliver services across all four categories at high levels.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mercury contamination to ecosystem services loss. Valuation gap means services are invisible in cost-benefit analyses.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Costanza valuations are approximate and debated but serve to highlight magnitude. The Guyana point is the key takeaway.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Pause here. These are mechanism statements — cause → effect. This is how limnologists think.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data-thinking prompt. After breakout, invite 3–4 pairs. Use responses to show that monitoring design = science + threat understanding.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‘tropical frontiers’ threading constraint. This recurs every week.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Mini-debate. Invite one student from each side. Surfaces scale/context theme, previews tropical frontiers thread.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methodological advances will recur throughout the course. Each is covered in detail in later weeks.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13-week arc. Highlight the integrated approach and the progression from fundamentals to applied topics.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expectations clearly. Emphasise interpretation over memorisation.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four themes recur every week. Students should actively track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discussion. Allow 5–6 students. Explicitly record answers. The Week 13 callback is the measure of course impact.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Preview names specific concepts from Week 2. The preparation question previews tropical hydrology.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73726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4.xml"/><Relationship Id="rId7" Type="http://schemas.openxmlformats.org/officeDocument/2006/relationships/hyperlink" Target="https://www.slido.com/powerpoint-polling?utm_source=powerpoint&amp;utm_medium=placeholder-slide" TargetMode="External"/><Relationship Id="rId12" Type="http://schemas.openxmlformats.org/officeDocument/2006/relationships/image" Target="../media/image6.sv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image" Target="../media/image2.svg"/><Relationship Id="rId11" Type="http://schemas.openxmlformats.org/officeDocument/2006/relationships/image" Target="../media/image5.png"/><Relationship Id="rId5" Type="http://schemas.openxmlformats.org/officeDocument/2006/relationships/image" Target="../media/image1.png"/><Relationship Id="rId10" Type="http://schemas.openxmlformats.org/officeDocument/2006/relationships/hyperlink" Target="https://www.slido.com/support/ppi/how-to-change-the-design" TargetMode="External"/><Relationship Id="rId4" Type="http://schemas.openxmlformats.org/officeDocument/2006/relationships/slideLayout" Target="../slideLayouts/slideLayout2.xml"/><Relationship Id="rId9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7.xml"/><Relationship Id="rId7" Type="http://schemas.openxmlformats.org/officeDocument/2006/relationships/hyperlink" Target="https://www.slido.com/powerpoint-polling?utm_source=powerpoint&amp;utm_medium=placeholder-slide" TargetMode="External"/><Relationship Id="rId12" Type="http://schemas.openxmlformats.org/officeDocument/2006/relationships/image" Target="../media/image6.svg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image" Target="../media/image8.svg"/><Relationship Id="rId11" Type="http://schemas.openxmlformats.org/officeDocument/2006/relationships/image" Target="../media/image5.png"/><Relationship Id="rId5" Type="http://schemas.openxmlformats.org/officeDocument/2006/relationships/image" Target="../media/image7.png"/><Relationship Id="rId10" Type="http://schemas.openxmlformats.org/officeDocument/2006/relationships/hyperlink" Target="https://www.slido.com/support/ppi/how-to-change-the-design" TargetMode="External"/><Relationship Id="rId4" Type="http://schemas.openxmlformats.org/officeDocument/2006/relationships/slideLayout" Target="../slideLayouts/slideLayout2.xml"/><Relationship Id="rId9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10.xml"/><Relationship Id="rId7" Type="http://schemas.openxmlformats.org/officeDocument/2006/relationships/hyperlink" Target="https://www.slido.com/powerpoint-polling?utm_source=powerpoint&amp;utm_medium=placeholder-slide" TargetMode="External"/><Relationship Id="rId12" Type="http://schemas.openxmlformats.org/officeDocument/2006/relationships/image" Target="../media/image6.svg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image" Target="../media/image8.svg"/><Relationship Id="rId11" Type="http://schemas.openxmlformats.org/officeDocument/2006/relationships/image" Target="../media/image5.png"/><Relationship Id="rId5" Type="http://schemas.openxmlformats.org/officeDocument/2006/relationships/image" Target="../media/image7.png"/><Relationship Id="rId10" Type="http://schemas.openxmlformats.org/officeDocument/2006/relationships/hyperlink" Target="https://www.slido.com/support/ppi/how-to-change-the-design" TargetMode="External"/><Relationship Id="rId4" Type="http://schemas.openxmlformats.org/officeDocument/2006/relationships/slideLayout" Target="../slideLayouts/slideLayout2.xml"/><Relationship Id="rId9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13.xml"/><Relationship Id="rId7" Type="http://schemas.openxmlformats.org/officeDocument/2006/relationships/hyperlink" Target="https://www.slido.com/powerpoint-polling?utm_source=powerpoint&amp;utm_medium=placeholder-slide" TargetMode="External"/><Relationship Id="rId12" Type="http://schemas.openxmlformats.org/officeDocument/2006/relationships/image" Target="../media/image6.svg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image" Target="../media/image8.svg"/><Relationship Id="rId11" Type="http://schemas.openxmlformats.org/officeDocument/2006/relationships/image" Target="../media/image5.png"/><Relationship Id="rId5" Type="http://schemas.openxmlformats.org/officeDocument/2006/relationships/image" Target="../media/image7.png"/><Relationship Id="rId10" Type="http://schemas.openxmlformats.org/officeDocument/2006/relationships/hyperlink" Target="https://www.slido.com/support/ppi/how-to-change-the-design" TargetMode="External"/><Relationship Id="rId4" Type="http://schemas.openxmlformats.org/officeDocument/2006/relationships/slideLayout" Target="../slideLayouts/slideLayout2.xml"/><Relationship Id="rId9" Type="http://schemas.openxmlformats.org/officeDocument/2006/relationships/image" Target="../media/image4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16.xml"/><Relationship Id="rId7" Type="http://schemas.openxmlformats.org/officeDocument/2006/relationships/hyperlink" Target="https://www.slido.com/powerpoint-polling?utm_source=powerpoint&amp;utm_medium=placeholder-slide" TargetMode="External"/><Relationship Id="rId12" Type="http://schemas.openxmlformats.org/officeDocument/2006/relationships/image" Target="../media/image6.svg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image" Target="../media/image8.svg"/><Relationship Id="rId11" Type="http://schemas.openxmlformats.org/officeDocument/2006/relationships/image" Target="../media/image5.png"/><Relationship Id="rId5" Type="http://schemas.openxmlformats.org/officeDocument/2006/relationships/image" Target="../media/image7.png"/><Relationship Id="rId10" Type="http://schemas.openxmlformats.org/officeDocument/2006/relationships/hyperlink" Target="https://www.slido.com/support/ppi/how-to-change-the-design" TargetMode="External"/><Relationship Id="rId4" Type="http://schemas.openxmlformats.org/officeDocument/2006/relationships/slideLayout" Target="../slideLayouts/slideLayout2.xml"/><Relationship Id="rId9" Type="http://schemas.openxmlformats.org/officeDocument/2006/relationships/image" Target="../media/image4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19.xml"/><Relationship Id="rId7" Type="http://schemas.openxmlformats.org/officeDocument/2006/relationships/hyperlink" Target="https://www.slido.com/powerpoint-polling?utm_source=powerpoint&amp;utm_medium=placeholder-slide" TargetMode="External"/><Relationship Id="rId12" Type="http://schemas.openxmlformats.org/officeDocument/2006/relationships/image" Target="../media/image6.svg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image" Target="../media/image10.svg"/><Relationship Id="rId11" Type="http://schemas.openxmlformats.org/officeDocument/2006/relationships/image" Target="../media/image5.png"/><Relationship Id="rId5" Type="http://schemas.openxmlformats.org/officeDocument/2006/relationships/image" Target="../media/image9.png"/><Relationship Id="rId10" Type="http://schemas.openxmlformats.org/officeDocument/2006/relationships/hyperlink" Target="https://www.slido.com/support/ppi/how-to-change-the-design" TargetMode="External"/><Relationship Id="rId4" Type="http://schemas.openxmlformats.org/officeDocument/2006/relationships/slideLayout" Target="../slideLayouts/slideLayout2.xml"/><Relationship Id="rId9" Type="http://schemas.openxmlformats.org/officeDocument/2006/relationships/image" Target="../media/image4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22.xml"/><Relationship Id="rId7" Type="http://schemas.openxmlformats.org/officeDocument/2006/relationships/hyperlink" Target="https://www.slido.com/powerpoint-polling?utm_source=powerpoint&amp;utm_medium=placeholder-slide" TargetMode="External"/><Relationship Id="rId12" Type="http://schemas.openxmlformats.org/officeDocument/2006/relationships/image" Target="../media/image6.svg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image" Target="../media/image10.svg"/><Relationship Id="rId11" Type="http://schemas.openxmlformats.org/officeDocument/2006/relationships/image" Target="../media/image5.png"/><Relationship Id="rId5" Type="http://schemas.openxmlformats.org/officeDocument/2006/relationships/image" Target="../media/image9.png"/><Relationship Id="rId10" Type="http://schemas.openxmlformats.org/officeDocument/2006/relationships/hyperlink" Target="https://www.slido.com/support/ppi/how-to-change-the-design" TargetMode="External"/><Relationship Id="rId4" Type="http://schemas.openxmlformats.org/officeDocument/2006/relationships/slideLayout" Target="../slideLayouts/slideLayout2.xml"/><Relationship Id="rId9" Type="http://schemas.openxmlformats.org/officeDocument/2006/relationships/image" Target="../media/image4.sv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25.xml"/><Relationship Id="rId7" Type="http://schemas.openxmlformats.org/officeDocument/2006/relationships/hyperlink" Target="https://www.slido.com/powerpoint-polling?utm_source=powerpoint&amp;utm_medium=placeholder-slide" TargetMode="External"/><Relationship Id="rId12" Type="http://schemas.openxmlformats.org/officeDocument/2006/relationships/image" Target="../media/image6.svg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image" Target="../media/image12.svg"/><Relationship Id="rId11" Type="http://schemas.openxmlformats.org/officeDocument/2006/relationships/image" Target="../media/image5.png"/><Relationship Id="rId5" Type="http://schemas.openxmlformats.org/officeDocument/2006/relationships/image" Target="../media/image11.png"/><Relationship Id="rId10" Type="http://schemas.openxmlformats.org/officeDocument/2006/relationships/hyperlink" Target="https://www.slido.com/support/ppi/how-to-change-the-design" TargetMode="External"/><Relationship Id="rId4" Type="http://schemas.openxmlformats.org/officeDocument/2006/relationships/slideLayout" Target="../slideLayouts/slideLayout2.xml"/><Relationship Id="rId9" Type="http://schemas.openxmlformats.org/officeDocument/2006/relationships/image" Target="../media/image4.sv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28.xml"/><Relationship Id="rId7" Type="http://schemas.openxmlformats.org/officeDocument/2006/relationships/hyperlink" Target="https://www.slido.com/powerpoint-polling?utm_source=powerpoint&amp;utm_medium=placeholder-slide" TargetMode="External"/><Relationship Id="rId12" Type="http://schemas.openxmlformats.org/officeDocument/2006/relationships/image" Target="../media/image6.svg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6" Type="http://schemas.openxmlformats.org/officeDocument/2006/relationships/image" Target="../media/image10.svg"/><Relationship Id="rId11" Type="http://schemas.openxmlformats.org/officeDocument/2006/relationships/image" Target="../media/image5.png"/><Relationship Id="rId5" Type="http://schemas.openxmlformats.org/officeDocument/2006/relationships/image" Target="../media/image9.png"/><Relationship Id="rId10" Type="http://schemas.openxmlformats.org/officeDocument/2006/relationships/hyperlink" Target="https://www.slido.com/support/ppi/how-to-change-the-design" TargetMode="External"/><Relationship Id="rId4" Type="http://schemas.openxmlformats.org/officeDocument/2006/relationships/slideLayout" Target="../slideLayouts/slideLayout2.xml"/><Relationship Id="rId9" Type="http://schemas.openxmlformats.org/officeDocument/2006/relationships/image" Target="../media/image4.sv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E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E4A01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1280160" cy="384048"/>
          </a:xfrm>
          <a:prstGeom prst="roundRect">
            <a:avLst>
              <a:gd name="adj" fmla="val 50000"/>
            </a:avLst>
          </a:prstGeom>
          <a:solidFill>
            <a:srgbClr val="E4A01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C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 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Freshwater Matters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31089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7B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Limnology — University of Guyana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914400"/>
            <a:ext cx="36576" cy="292608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0" y="4764024"/>
            <a:ext cx="9144000" cy="384048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4764024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Limnology  │  University of Guyana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D5F94AA-E8F4-0B56-C005-513AD922CEB4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33520" y="1307028"/>
            <a:ext cx="1778772" cy="1778772"/>
          </a:xfrm>
          <a:prstGeom prst="rect">
            <a:avLst/>
          </a:pr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C4987C2-8E8D-96E9-BE6F-3004447CC1C3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2334638" y="750673"/>
            <a:ext cx="6364669" cy="2891481"/>
          </a:xfrm>
          <a:prstGeom prst="rect">
            <a:avLst/>
          </a:prstGeom>
          <a:noFill/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000" b="1">
                <a:solidFill>
                  <a:srgbClr val="000000"/>
                </a:solidFill>
              </a:rPr>
              <a:t>Join at slido.com</a:t>
            </a:r>
            <a:br>
              <a:rPr lang="en-US" sz="4000" b="1">
                <a:solidFill>
                  <a:srgbClr val="000000"/>
                </a:solidFill>
              </a:rPr>
            </a:br>
            <a:r>
              <a:rPr lang="en-US" sz="4000" b="1">
                <a:solidFill>
                  <a:srgbClr val="000000"/>
                </a:solidFill>
              </a:rPr>
              <a:t>#2495727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BB71C99-B8C6-5E1F-CDA8-C0ED77081288}"/>
              </a:ext>
            </a:extLst>
          </p:cNvPr>
          <p:cNvSpPr/>
          <p:nvPr/>
        </p:nvSpPr>
        <p:spPr>
          <a:xfrm>
            <a:off x="0" y="4365024"/>
            <a:ext cx="9144000" cy="778476"/>
          </a:xfrm>
          <a:prstGeom prst="rect">
            <a:avLst/>
          </a:prstGeom>
          <a:solidFill>
            <a:srgbClr val="19803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55866" tIns="194619" rIns="1389666" bIns="152915" rtlCol="0" anchor="ctr">
            <a:normAutofit fontScale="70000" lnSpcReduction="200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59C9CC09-CD5A-2740-1BAC-0A60BB4A706A}"/>
              </a:ext>
            </a:extLst>
          </p:cNvPr>
          <p:cNvPicPr>
            <a:picLocks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</p:spPr>
      </p:pic>
      <p:sp>
        <p:nvSpPr>
          <p:cNvPr id="7" name="Trapezoid 6">
            <a:extLst>
              <a:ext uri="{FF2B5EF4-FFF2-40B4-BE49-F238E27FC236}">
                <a16:creationId xmlns:a16="http://schemas.microsoft.com/office/drawing/2014/main" id="{C0FA67D6-D839-7625-669C-6BE9ECF6CC38}"/>
              </a:ext>
            </a:extLst>
          </p:cNvPr>
          <p:cNvSpPr/>
          <p:nvPr/>
        </p:nvSpPr>
        <p:spPr>
          <a:xfrm rot="2700000">
            <a:off x="7215278" y="386193"/>
            <a:ext cx="2501399" cy="583660"/>
          </a:xfrm>
          <a:prstGeom prst="trapezoid">
            <a:avLst>
              <a:gd name="adj" fmla="val 100000"/>
            </a:avLst>
          </a:prstGeom>
          <a:solidFill>
            <a:srgbClr val="EDFAF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55000" lnSpcReduction="20000"/>
          </a:bodyPr>
          <a:lstStyle/>
          <a:p>
            <a:pPr algn="ctr"/>
            <a:r>
              <a:rPr lang="en-US" sz="2600" b="1">
                <a:solidFill>
                  <a:srgbClr val="198038"/>
                </a:solidFill>
              </a:rPr>
              <a:t>Do not edit
</a:t>
            </a:r>
            <a:r>
              <a:rPr lang="en-US" sz="2200">
                <a:solidFill>
                  <a:srgbClr val="198038"/>
                </a:solid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lang="en-US" sz="2200">
              <a:solidFill>
                <a:srgbClr val="198038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A9B0B86D-6F49-1C13-9467-42EC405B7B67}"/>
              </a:ext>
            </a:extLst>
          </p:cNvPr>
          <p:cNvPicPr>
            <a:picLocks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060062" y="4615295"/>
            <a:ext cx="833799" cy="27793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6138074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5E4E273-19B1-9DC5-2060-6F846D47B9F7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33520" y="1307028"/>
            <a:ext cx="1778772" cy="1778772"/>
          </a:xfrm>
          <a:prstGeom prst="rect">
            <a:avLst/>
          </a:pr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EDCB5F1-5260-BF46-2C7D-D65C0C201B00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2334638" y="750673"/>
            <a:ext cx="6364669" cy="2891481"/>
          </a:xfrm>
          <a:prstGeom prst="rect">
            <a:avLst/>
          </a:prstGeom>
          <a:noFill/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000" b="1">
                <a:solidFill>
                  <a:srgbClr val="000000"/>
                </a:solidFill>
              </a:rPr>
              <a:t>Rank your familiarity with Chemistry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0DE1627-DABD-3EC8-28DD-919D68E4360B}"/>
              </a:ext>
            </a:extLst>
          </p:cNvPr>
          <p:cNvSpPr/>
          <p:nvPr/>
        </p:nvSpPr>
        <p:spPr>
          <a:xfrm>
            <a:off x="0" y="4365024"/>
            <a:ext cx="9144000" cy="778476"/>
          </a:xfrm>
          <a:prstGeom prst="rect">
            <a:avLst/>
          </a:prstGeom>
          <a:solidFill>
            <a:srgbClr val="19803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55866" tIns="194619" rIns="1389666" bIns="152915" rtlCol="0" anchor="ctr">
            <a:normAutofit fontScale="70000" lnSpcReduction="200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0B1BD89B-0BDD-D2E8-6518-8C36E2103EC3}"/>
              </a:ext>
            </a:extLst>
          </p:cNvPr>
          <p:cNvPicPr>
            <a:picLocks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</p:spPr>
      </p:pic>
      <p:sp>
        <p:nvSpPr>
          <p:cNvPr id="7" name="Trapezoid 6">
            <a:extLst>
              <a:ext uri="{FF2B5EF4-FFF2-40B4-BE49-F238E27FC236}">
                <a16:creationId xmlns:a16="http://schemas.microsoft.com/office/drawing/2014/main" id="{DF9E693D-28BF-1D5C-BE17-AB3BF1B71682}"/>
              </a:ext>
            </a:extLst>
          </p:cNvPr>
          <p:cNvSpPr/>
          <p:nvPr/>
        </p:nvSpPr>
        <p:spPr>
          <a:xfrm rot="2700000">
            <a:off x="7215278" y="386193"/>
            <a:ext cx="2501399" cy="583660"/>
          </a:xfrm>
          <a:prstGeom prst="trapezoid">
            <a:avLst>
              <a:gd name="adj" fmla="val 100000"/>
            </a:avLst>
          </a:prstGeom>
          <a:solidFill>
            <a:srgbClr val="EDFAF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55000" lnSpcReduction="20000"/>
          </a:bodyPr>
          <a:lstStyle/>
          <a:p>
            <a:pPr algn="ctr"/>
            <a:r>
              <a:rPr lang="en-US" sz="2600" b="1">
                <a:solidFill>
                  <a:srgbClr val="198038"/>
                </a:solidFill>
              </a:rPr>
              <a:t>Do not edit
</a:t>
            </a:r>
            <a:r>
              <a:rPr lang="en-US" sz="2200">
                <a:solidFill>
                  <a:srgbClr val="198038"/>
                </a:solid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lang="en-US" sz="2200">
              <a:solidFill>
                <a:srgbClr val="198038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8FB54966-C7B0-3B20-7322-E1216FA28F94}"/>
              </a:ext>
            </a:extLst>
          </p:cNvPr>
          <p:cNvPicPr>
            <a:picLocks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060062" y="4615295"/>
            <a:ext cx="833799" cy="27793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667673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2425988-F8F5-D50B-FF9B-E7231BBC4B02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33520" y="1307028"/>
            <a:ext cx="1778772" cy="1778772"/>
          </a:xfrm>
          <a:prstGeom prst="rect">
            <a:avLst/>
          </a:pr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552B29A-4C1B-819F-143C-C8EB0099E343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2334638" y="750673"/>
            <a:ext cx="6364669" cy="2891481"/>
          </a:xfrm>
          <a:prstGeom prst="rect">
            <a:avLst/>
          </a:prstGeom>
          <a:noFill/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000" b="1">
                <a:solidFill>
                  <a:srgbClr val="000000"/>
                </a:solidFill>
              </a:rPr>
              <a:t>Rank your familiarity with ecology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F51458F-4B42-E8B2-FB62-794CAD0BA83D}"/>
              </a:ext>
            </a:extLst>
          </p:cNvPr>
          <p:cNvSpPr/>
          <p:nvPr/>
        </p:nvSpPr>
        <p:spPr>
          <a:xfrm>
            <a:off x="0" y="4365024"/>
            <a:ext cx="9144000" cy="778476"/>
          </a:xfrm>
          <a:prstGeom prst="rect">
            <a:avLst/>
          </a:prstGeom>
          <a:solidFill>
            <a:srgbClr val="19803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55866" tIns="194619" rIns="1389666" bIns="152915" rtlCol="0" anchor="ctr">
            <a:normAutofit fontScale="70000" lnSpcReduction="200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2A57CB84-1408-10B5-C6B7-5383B612DB67}"/>
              </a:ext>
            </a:extLst>
          </p:cNvPr>
          <p:cNvPicPr>
            <a:picLocks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</p:spPr>
      </p:pic>
      <p:sp>
        <p:nvSpPr>
          <p:cNvPr id="7" name="Trapezoid 6">
            <a:extLst>
              <a:ext uri="{FF2B5EF4-FFF2-40B4-BE49-F238E27FC236}">
                <a16:creationId xmlns:a16="http://schemas.microsoft.com/office/drawing/2014/main" id="{0EB0AA49-F35D-C5FD-F599-6A8C448E1180}"/>
              </a:ext>
            </a:extLst>
          </p:cNvPr>
          <p:cNvSpPr/>
          <p:nvPr/>
        </p:nvSpPr>
        <p:spPr>
          <a:xfrm rot="2700000">
            <a:off x="7215278" y="386193"/>
            <a:ext cx="2501399" cy="583660"/>
          </a:xfrm>
          <a:prstGeom prst="trapezoid">
            <a:avLst>
              <a:gd name="adj" fmla="val 100000"/>
            </a:avLst>
          </a:prstGeom>
          <a:solidFill>
            <a:srgbClr val="EDFAF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55000" lnSpcReduction="20000"/>
          </a:bodyPr>
          <a:lstStyle/>
          <a:p>
            <a:pPr algn="ctr"/>
            <a:r>
              <a:rPr lang="en-US" sz="2600" b="1">
                <a:solidFill>
                  <a:srgbClr val="198038"/>
                </a:solidFill>
              </a:rPr>
              <a:t>Do not edit
</a:t>
            </a:r>
            <a:r>
              <a:rPr lang="en-US" sz="2200">
                <a:solidFill>
                  <a:srgbClr val="198038"/>
                </a:solid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lang="en-US" sz="2200">
              <a:solidFill>
                <a:srgbClr val="198038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628C0E87-6419-CC63-BF77-9AA6DB29375F}"/>
              </a:ext>
            </a:extLst>
          </p:cNvPr>
          <p:cNvPicPr>
            <a:picLocks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060062" y="4615295"/>
            <a:ext cx="833799" cy="27793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0206581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2E47F81-CE7B-3B06-B8E2-970909214632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33520" y="1307028"/>
            <a:ext cx="1778772" cy="1778772"/>
          </a:xfrm>
          <a:prstGeom prst="rect">
            <a:avLst/>
          </a:pr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5B962A7-EE05-9373-3DE9-5188E881BB22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2334638" y="750673"/>
            <a:ext cx="6364669" cy="2891481"/>
          </a:xfrm>
          <a:prstGeom prst="rect">
            <a:avLst/>
          </a:prstGeom>
          <a:noFill/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000" b="1">
                <a:solidFill>
                  <a:srgbClr val="000000"/>
                </a:solidFill>
              </a:rPr>
              <a:t>Rank your familiarity with statistics/data science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552B1B5-077E-2A30-38EA-837580B26D56}"/>
              </a:ext>
            </a:extLst>
          </p:cNvPr>
          <p:cNvSpPr/>
          <p:nvPr/>
        </p:nvSpPr>
        <p:spPr>
          <a:xfrm>
            <a:off x="0" y="4365024"/>
            <a:ext cx="9144000" cy="778476"/>
          </a:xfrm>
          <a:prstGeom prst="rect">
            <a:avLst/>
          </a:prstGeom>
          <a:solidFill>
            <a:srgbClr val="19803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55866" tIns="194619" rIns="1389666" bIns="152915" rtlCol="0" anchor="ctr">
            <a:normAutofit fontScale="70000" lnSpcReduction="200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824BA321-06C5-DD73-FB91-F20A8175A0E0}"/>
              </a:ext>
            </a:extLst>
          </p:cNvPr>
          <p:cNvPicPr>
            <a:picLocks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</p:spPr>
      </p:pic>
      <p:sp>
        <p:nvSpPr>
          <p:cNvPr id="7" name="Trapezoid 6">
            <a:extLst>
              <a:ext uri="{FF2B5EF4-FFF2-40B4-BE49-F238E27FC236}">
                <a16:creationId xmlns:a16="http://schemas.microsoft.com/office/drawing/2014/main" id="{FE6D1804-739A-F8BD-51D0-8981EF36C914}"/>
              </a:ext>
            </a:extLst>
          </p:cNvPr>
          <p:cNvSpPr/>
          <p:nvPr/>
        </p:nvSpPr>
        <p:spPr>
          <a:xfrm rot="2700000">
            <a:off x="7215278" y="386193"/>
            <a:ext cx="2501399" cy="583660"/>
          </a:xfrm>
          <a:prstGeom prst="trapezoid">
            <a:avLst>
              <a:gd name="adj" fmla="val 100000"/>
            </a:avLst>
          </a:prstGeom>
          <a:solidFill>
            <a:srgbClr val="EDFAF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55000" lnSpcReduction="20000"/>
          </a:bodyPr>
          <a:lstStyle/>
          <a:p>
            <a:pPr algn="ctr"/>
            <a:r>
              <a:rPr lang="en-US" sz="2600" b="1">
                <a:solidFill>
                  <a:srgbClr val="198038"/>
                </a:solidFill>
              </a:rPr>
              <a:t>Do not edit
</a:t>
            </a:r>
            <a:r>
              <a:rPr lang="en-US" sz="2200">
                <a:solidFill>
                  <a:srgbClr val="198038"/>
                </a:solid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lang="en-US" sz="2200">
              <a:solidFill>
                <a:srgbClr val="198038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E66B93C4-3D06-E1E4-6392-31B03B789A9B}"/>
              </a:ext>
            </a:extLst>
          </p:cNvPr>
          <p:cNvPicPr>
            <a:picLocks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060062" y="4615295"/>
            <a:ext cx="833799" cy="27793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553952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28A11F8-1ECD-C8D3-19CE-A05B6017E093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33520" y="1307028"/>
            <a:ext cx="1778772" cy="1778772"/>
          </a:xfrm>
          <a:prstGeom prst="rect">
            <a:avLst/>
          </a:pr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436E7E8-64E7-2B4A-12CA-261CF18EDE4B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2334638" y="750673"/>
            <a:ext cx="6364669" cy="2891481"/>
          </a:xfrm>
          <a:prstGeom prst="rect">
            <a:avLst/>
          </a:prstGeom>
          <a:noFill/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000" b="1">
                <a:solidFill>
                  <a:srgbClr val="000000"/>
                </a:solidFill>
              </a:rPr>
              <a:t>Rank your familiarity with 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C3DA2C5-D4C4-8667-7484-025CC66E820D}"/>
              </a:ext>
            </a:extLst>
          </p:cNvPr>
          <p:cNvSpPr/>
          <p:nvPr/>
        </p:nvSpPr>
        <p:spPr>
          <a:xfrm>
            <a:off x="0" y="4365024"/>
            <a:ext cx="9144000" cy="778476"/>
          </a:xfrm>
          <a:prstGeom prst="rect">
            <a:avLst/>
          </a:prstGeom>
          <a:solidFill>
            <a:srgbClr val="19803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55866" tIns="194619" rIns="1389666" bIns="152915" rtlCol="0" anchor="ctr">
            <a:normAutofit fontScale="70000" lnSpcReduction="200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5F0ECDA7-86CF-ECEE-2555-C826BFD55555}"/>
              </a:ext>
            </a:extLst>
          </p:cNvPr>
          <p:cNvPicPr>
            <a:picLocks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</p:spPr>
      </p:pic>
      <p:sp>
        <p:nvSpPr>
          <p:cNvPr id="7" name="Trapezoid 6">
            <a:extLst>
              <a:ext uri="{FF2B5EF4-FFF2-40B4-BE49-F238E27FC236}">
                <a16:creationId xmlns:a16="http://schemas.microsoft.com/office/drawing/2014/main" id="{E63CBC8C-5E43-5923-0503-A9DB0DA77E22}"/>
              </a:ext>
            </a:extLst>
          </p:cNvPr>
          <p:cNvSpPr/>
          <p:nvPr/>
        </p:nvSpPr>
        <p:spPr>
          <a:xfrm rot="2700000">
            <a:off x="7215278" y="386193"/>
            <a:ext cx="2501399" cy="583660"/>
          </a:xfrm>
          <a:prstGeom prst="trapezoid">
            <a:avLst>
              <a:gd name="adj" fmla="val 100000"/>
            </a:avLst>
          </a:prstGeom>
          <a:solidFill>
            <a:srgbClr val="EDFAF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55000" lnSpcReduction="20000"/>
          </a:bodyPr>
          <a:lstStyle/>
          <a:p>
            <a:pPr algn="ctr"/>
            <a:r>
              <a:rPr lang="en-US" sz="2600" b="1">
                <a:solidFill>
                  <a:srgbClr val="198038"/>
                </a:solidFill>
              </a:rPr>
              <a:t>Do not edit
</a:t>
            </a:r>
            <a:r>
              <a:rPr lang="en-US" sz="2200">
                <a:solidFill>
                  <a:srgbClr val="198038"/>
                </a:solid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lang="en-US" sz="2200">
              <a:solidFill>
                <a:srgbClr val="198038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C6648EF1-0885-D90F-8A7B-AB41DDB30373}"/>
              </a:ext>
            </a:extLst>
          </p:cNvPr>
          <p:cNvPicPr>
            <a:picLocks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060062" y="4615295"/>
            <a:ext cx="833799" cy="27793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6280469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1E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731520"/>
            <a:ext cx="7315200" cy="3657600"/>
          </a:xfrm>
          <a:prstGeom prst="roundRect">
            <a:avLst>
              <a:gd name="adj" fmla="val 2500"/>
            </a:avLst>
          </a:prstGeom>
          <a:solidFill>
            <a:srgbClr val="F7F9F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05840" y="731520"/>
            <a:ext cx="7132320" cy="45720"/>
          </a:xfrm>
          <a:prstGeom prst="rect">
            <a:avLst/>
          </a:prstGeom>
          <a:solidFill>
            <a:srgbClr val="E4A01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234440" y="100584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4A01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DISCUSSION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34440" y="1417320"/>
            <a:ext cx="6675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C2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When you turned on the tap this morning, can you trace the full hydrological pathway that water took to reach you — from precipitation through to your glass?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34440" y="352044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about precipitation, runoff or recharge, intake, treatment, distribution.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9E3146F-DEC5-130D-41B0-5E3EE1C506D1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33520" y="1307028"/>
            <a:ext cx="1778772" cy="1778772"/>
          </a:xfrm>
          <a:prstGeom prst="rect">
            <a:avLst/>
          </a:pr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17B8231-8D25-23A4-71E1-3D1C7BB285E2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2334638" y="750673"/>
            <a:ext cx="6364669" cy="2891481"/>
          </a:xfrm>
          <a:prstGeom prst="rect">
            <a:avLst/>
          </a:prstGeom>
          <a:noFill/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000" b="1">
                <a:solidFill>
                  <a:srgbClr val="000000"/>
                </a:solidFill>
              </a:rPr>
              <a:t>What comes to your mind when you think about freshwater?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721161D-5562-C91B-A0EC-BC1ABAFB1EF7}"/>
              </a:ext>
            </a:extLst>
          </p:cNvPr>
          <p:cNvSpPr/>
          <p:nvPr/>
        </p:nvSpPr>
        <p:spPr>
          <a:xfrm>
            <a:off x="0" y="4365024"/>
            <a:ext cx="9144000" cy="778476"/>
          </a:xfrm>
          <a:prstGeom prst="rect">
            <a:avLst/>
          </a:prstGeom>
          <a:solidFill>
            <a:srgbClr val="19803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55866" tIns="194619" rIns="1389666" bIns="152915" rtlCol="0" anchor="ctr">
            <a:normAutofit fontScale="70000" lnSpcReduction="200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0557269E-05CE-E65B-6004-AA741D3571AE}"/>
              </a:ext>
            </a:extLst>
          </p:cNvPr>
          <p:cNvPicPr>
            <a:picLocks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</p:spPr>
      </p:pic>
      <p:sp>
        <p:nvSpPr>
          <p:cNvPr id="7" name="Trapezoid 6">
            <a:extLst>
              <a:ext uri="{FF2B5EF4-FFF2-40B4-BE49-F238E27FC236}">
                <a16:creationId xmlns:a16="http://schemas.microsoft.com/office/drawing/2014/main" id="{BC0F4003-3938-71ED-53CF-DF7161296CCE}"/>
              </a:ext>
            </a:extLst>
          </p:cNvPr>
          <p:cNvSpPr/>
          <p:nvPr/>
        </p:nvSpPr>
        <p:spPr>
          <a:xfrm rot="2700000">
            <a:off x="7215278" y="386193"/>
            <a:ext cx="2501399" cy="583660"/>
          </a:xfrm>
          <a:prstGeom prst="trapezoid">
            <a:avLst>
              <a:gd name="adj" fmla="val 100000"/>
            </a:avLst>
          </a:prstGeom>
          <a:solidFill>
            <a:srgbClr val="EDFAF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55000" lnSpcReduction="20000"/>
          </a:bodyPr>
          <a:lstStyle/>
          <a:p>
            <a:pPr algn="ctr"/>
            <a:r>
              <a:rPr lang="en-US" sz="2600" b="1">
                <a:solidFill>
                  <a:srgbClr val="198038"/>
                </a:solidFill>
              </a:rPr>
              <a:t>Do not edit
</a:t>
            </a:r>
            <a:r>
              <a:rPr lang="en-US" sz="2200">
                <a:solidFill>
                  <a:srgbClr val="198038"/>
                </a:solid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lang="en-US" sz="2200">
              <a:solidFill>
                <a:srgbClr val="198038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1A8C4D4D-856F-1989-4E9F-C44F1D5BAEA3}"/>
              </a:ext>
            </a:extLst>
          </p:cNvPr>
          <p:cNvPicPr>
            <a:picLocks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060062" y="4615295"/>
            <a:ext cx="833799" cy="27793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6249250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2A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C35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27432"/>
          </a:xfrm>
          <a:prstGeom prst="rect">
            <a:avLst/>
          </a:prstGeom>
          <a:solidFill>
            <a:srgbClr val="E4A01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This Course About?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3749040"/>
          </a:xfrm>
          <a:prstGeom prst="roundRect">
            <a:avLst>
              <a:gd name="adj" fmla="val 2439"/>
            </a:avLst>
          </a:prstGeom>
          <a:solidFill>
            <a:srgbClr val="F7F9F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8229600" cy="4572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143000"/>
            <a:ext cx="7863840" cy="3383280"/>
          </a:xfrm>
          <a:prstGeom prst="rect">
            <a:avLst/>
          </a:prstGeom>
          <a:noFill/>
          <a:ln/>
        </p:spPr>
        <p:txBody>
          <a:bodyPr wrap="square" lIns="63500" tIns="127000" rIns="127000" bIns="63500" rtlCol="0" anchor="t"/>
          <a:lstStyle/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lang="en-US" sz="16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Limnology</a:t>
            </a:r>
            <a:r>
              <a:rPr lang="en-US" sz="16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(Greek </a:t>
            </a:r>
            <a:r>
              <a:rPr lang="en-US" sz="1600" i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limnē</a:t>
            </a:r>
            <a:r>
              <a:rPr lang="en-US" sz="16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— the study of physical, chemical, biological, and ecological properties of inland waters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lang="en-US" sz="16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approach: each week covers a system type or applied problem, with physics, chemistry, and biology taught in context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lang="en-US" sz="16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weeks: fundamentals → habitat ecology → applied topics (pollution, climate change, bioassessment, governance)</a:t>
            </a:r>
          </a:p>
        </p:txBody>
      </p:sp>
      <p:sp>
        <p:nvSpPr>
          <p:cNvPr id="8" name="Text 6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82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Limnology  │  University of Guyana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0197796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2A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C35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27432"/>
          </a:xfrm>
          <a:prstGeom prst="rect">
            <a:avLst/>
          </a:prstGeom>
          <a:solidFill>
            <a:srgbClr val="E4A01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Freshwater: A Precious Sliver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11480" y="100584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F7F9F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02920" y="1005840"/>
            <a:ext cx="2423160" cy="4572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280160"/>
            <a:ext cx="2606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E7C7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97.5%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868680" y="2651760"/>
            <a:ext cx="1691640" cy="18288"/>
          </a:xfrm>
          <a:prstGeom prst="rect">
            <a:avLst/>
          </a:prstGeom>
          <a:solidFill>
            <a:srgbClr val="6B82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278892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Earth’s water is saline — primarily in the oceans</a:t>
            </a:r>
          </a:p>
        </p:txBody>
      </p:sp>
      <p:sp>
        <p:nvSpPr>
          <p:cNvPr id="10" name="Shape 8"/>
          <p:cNvSpPr/>
          <p:nvPr/>
        </p:nvSpPr>
        <p:spPr>
          <a:xfrm>
            <a:off x="3218688" y="100584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F7F9F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310128" y="1005840"/>
            <a:ext cx="2423160" cy="45720"/>
          </a:xfrm>
          <a:prstGeom prst="rect">
            <a:avLst/>
          </a:prstGeom>
          <a:solidFill>
            <a:srgbClr val="17BE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18688" y="1280160"/>
            <a:ext cx="2606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7BEB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2.5%</a:t>
            </a:r>
            <a:endParaRPr lang="en-US" sz="4000" dirty="0"/>
          </a:p>
        </p:txBody>
      </p:sp>
      <p:sp>
        <p:nvSpPr>
          <p:cNvPr id="13" name="Shape 11"/>
          <p:cNvSpPr/>
          <p:nvPr/>
        </p:nvSpPr>
        <p:spPr>
          <a:xfrm>
            <a:off x="3675888" y="2651760"/>
            <a:ext cx="1691640" cy="18288"/>
          </a:xfrm>
          <a:prstGeom prst="rect">
            <a:avLst/>
          </a:prstGeom>
          <a:solidFill>
            <a:srgbClr val="6B82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447288" y="278892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freshwater — but 68.7% locked in ice, 30.1% groundwater</a:t>
            </a:r>
          </a:p>
        </p:txBody>
      </p:sp>
      <p:sp>
        <p:nvSpPr>
          <p:cNvPr id="15" name="Shape 13"/>
          <p:cNvSpPr/>
          <p:nvPr/>
        </p:nvSpPr>
        <p:spPr>
          <a:xfrm>
            <a:off x="6016752" y="100584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F7F9F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108192" y="1005840"/>
            <a:ext cx="2423160" cy="45720"/>
          </a:xfrm>
          <a:prstGeom prst="rect">
            <a:avLst/>
          </a:prstGeom>
          <a:solidFill>
            <a:srgbClr val="E4A01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016752" y="1280160"/>
            <a:ext cx="2606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E4A01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0.007%</a:t>
            </a:r>
            <a:endParaRPr lang="en-US" sz="4000" dirty="0"/>
          </a:p>
        </p:txBody>
      </p:sp>
      <p:sp>
        <p:nvSpPr>
          <p:cNvPr id="18" name="Shape 16"/>
          <p:cNvSpPr/>
          <p:nvPr/>
        </p:nvSpPr>
        <p:spPr>
          <a:xfrm>
            <a:off x="6473952" y="2651760"/>
            <a:ext cx="1691640" cy="18288"/>
          </a:xfrm>
          <a:prstGeom prst="rect">
            <a:avLst/>
          </a:prstGeom>
          <a:solidFill>
            <a:srgbClr val="6B82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245352" y="278892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water is accessible surface freshwater (Shiklomanov, 1993)</a:t>
            </a:r>
          </a:p>
        </p:txBody>
      </p:sp>
      <p:sp>
        <p:nvSpPr>
          <p:cNvPr id="20" name="Text 18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82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Limnology  │  University of Guyana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4018560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2A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C35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27432"/>
          </a:xfrm>
          <a:prstGeom prst="rect">
            <a:avLst/>
          </a:prstGeom>
          <a:solidFill>
            <a:srgbClr val="E4A01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Is Earth’s Water?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3749040"/>
          </a:xfrm>
          <a:prstGeom prst="roundRect">
            <a:avLst>
              <a:gd name="adj" fmla="val 2439"/>
            </a:avLst>
          </a:prstGeom>
          <a:solidFill>
            <a:srgbClr val="F7F9F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8229600" cy="4572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143000"/>
            <a:ext cx="7863840" cy="3383280"/>
          </a:xfrm>
          <a:prstGeom prst="rect">
            <a:avLst/>
          </a:prstGeom>
          <a:noFill/>
          <a:ln/>
        </p:spPr>
        <p:txBody>
          <a:bodyPr wrap="square" lIns="63500" tIns="127000" rIns="127000" bIns="63500" rtlCol="0" anchor="t"/>
          <a:lstStyle/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lang="en-US" sz="16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Oceans dominate so completely that freshwater is barely visible at global scale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lang="en-US" sz="16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freshwater (lakes, rivers, wetlands) is a vanishingly thin layer, yet it supports 8+ billion people and a disproportionate share of global biodiversity (Gleick, 1993)</a:t>
            </a:r>
          </a:p>
        </p:txBody>
      </p:sp>
      <p:sp>
        <p:nvSpPr>
          <p:cNvPr id="8" name="Text 6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82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Limnology  │  University of Guyana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8135253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1E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E4A01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48640" y="2606040"/>
            <a:ext cx="2743200" cy="18288"/>
          </a:xfrm>
          <a:prstGeom prst="rect">
            <a:avLst/>
          </a:prstGeom>
          <a:solidFill>
            <a:srgbClr val="E4A01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Guyana: Land of Many Waters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28346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7B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Contextualising the global framework within our own geography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2A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C35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27432"/>
          </a:xfrm>
          <a:prstGeom prst="rect">
            <a:avLst/>
          </a:prstGeom>
          <a:solidFill>
            <a:srgbClr val="E4A01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Guyana’s Major River Systems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3749040"/>
          </a:xfrm>
          <a:prstGeom prst="roundRect">
            <a:avLst>
              <a:gd name="adj" fmla="val 2439"/>
            </a:avLst>
          </a:prstGeom>
          <a:solidFill>
            <a:srgbClr val="F7F9F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8229600" cy="4572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143000"/>
            <a:ext cx="7863840" cy="3383280"/>
          </a:xfrm>
          <a:prstGeom prst="rect">
            <a:avLst/>
          </a:prstGeom>
          <a:noFill/>
          <a:ln/>
        </p:spPr>
        <p:txBody>
          <a:bodyPr wrap="square" lIns="63500" tIns="127000" rIns="127000" bIns="63500" rtlCol="0" anchor="t"/>
          <a:lstStyle/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lang="en-US" sz="16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major basins:</a:t>
            </a:r>
            <a:r>
              <a:rPr lang="en-US" sz="16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Essequibo, Demerara, Berbice, Corentyne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lang="en-US" sz="16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Essequibo: ~1,010 km long, ~155,000 km² drainage — South America’s 6th largest by discharge; 300+ fish species, ~60 endemic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lang="en-US" sz="16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tributaries (Mazaruni, Cuyuni, Potaro) drain distinct terrain with different water chemistries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lang="en-US" sz="16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tropical river types present: blackwater, whitewater, clearwater (Sioli, 1950s–1980s)</a:t>
            </a:r>
          </a:p>
        </p:txBody>
      </p:sp>
      <p:sp>
        <p:nvSpPr>
          <p:cNvPr id="8" name="Text 6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82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Limnology  │  University of Guyana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3205183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2A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C35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27432"/>
          </a:xfrm>
          <a:prstGeom prst="rect">
            <a:avLst/>
          </a:prstGeom>
          <a:solidFill>
            <a:srgbClr val="E4A01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Rupununi Wetlands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3749040"/>
          </a:xfrm>
          <a:prstGeom prst="roundRect">
            <a:avLst>
              <a:gd name="adj" fmla="val 2439"/>
            </a:avLst>
          </a:prstGeom>
          <a:solidFill>
            <a:srgbClr val="F7F9F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8229600" cy="4572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143000"/>
            <a:ext cx="7863840" cy="3383280"/>
          </a:xfrm>
          <a:prstGeom prst="rect">
            <a:avLst/>
          </a:prstGeom>
          <a:noFill/>
          <a:ln/>
        </p:spPr>
        <p:txBody>
          <a:bodyPr wrap="square" lIns="63500" tIns="127000" rIns="127000" bIns="63500" rtlCol="0" anchor="t"/>
          <a:lstStyle/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lang="en-US" sz="16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Rupununi Portal:</a:t>
            </a:r>
            <a:r>
              <a:rPr lang="en-US" sz="16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seasonal connection between Essequibo and Amazon basins via ~3,480 km² of wetlands (de Souza et al., 2012)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lang="en-US" sz="16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450+ fish species; endangered black caiman, giant river otter, and arapaima (Cobra Collective, 2021)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lang="en-US" sz="16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Wet-season flooding forms Lake Amuku, linking Takutu (Amazon) with Rupununi (Essequibo) — enabling species exchange between two of Earth’s most biodiverse river systems</a:t>
            </a:r>
          </a:p>
        </p:txBody>
      </p:sp>
      <p:sp>
        <p:nvSpPr>
          <p:cNvPr id="8" name="Text 6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82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Limnology  │  University of Guyana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8342442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1E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E4A01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48640" y="2606040"/>
            <a:ext cx="2743200" cy="18288"/>
          </a:xfrm>
          <a:prstGeom prst="rect">
            <a:avLst/>
          </a:prstGeom>
          <a:solidFill>
            <a:srgbClr val="E4A01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Global Freshwater Crisis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28346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7B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Threats, declines, and the conservation paradox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2A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C35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27432"/>
          </a:xfrm>
          <a:prstGeom prst="rect">
            <a:avLst/>
          </a:prstGeom>
          <a:solidFill>
            <a:srgbClr val="E4A01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Five Threats to Freshwater Biodiversity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3749040"/>
          </a:xfrm>
          <a:prstGeom prst="roundRect">
            <a:avLst>
              <a:gd name="adj" fmla="val 2439"/>
            </a:avLst>
          </a:prstGeom>
          <a:solidFill>
            <a:srgbClr val="F7F9F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8229600" cy="45720"/>
          </a:xfrm>
          <a:prstGeom prst="rect">
            <a:avLst/>
          </a:prstGeom>
          <a:solidFill>
            <a:srgbClr val="17BE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1143000"/>
            <a:ext cx="7680960" cy="3383280"/>
          </a:xfrm>
          <a:prstGeom prst="rect">
            <a:avLst/>
          </a:prstGeom>
          <a:noFill/>
          <a:ln/>
        </p:spPr>
        <p:txBody>
          <a:bodyPr wrap="square" lIns="63500" tIns="127000" rIns="127000" bIns="63500" rtlCol="0" anchor="t"/>
          <a:lstStyle/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lang="en-US" sz="16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Overexploitation — unsustainable harvesting of species and water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lang="en-US" sz="16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pollution — mercury, nutrients, emerging contaminants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lang="en-US" sz="16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modification — 58,000+ large dams globally alter flow regimes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lang="en-US" sz="16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Habitat destruction — ~85% of wetland area lost since 1700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lang="en-US" sz="16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Invasive species — homogenising freshwater faunas worldwide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lang="en-US" sz="1600" i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 change acts as a threat multiplier across all five (Dudgeon et al., 2006)</a:t>
            </a:r>
          </a:p>
        </p:txBody>
      </p:sp>
      <p:sp>
        <p:nvSpPr>
          <p:cNvPr id="8" name="Text 6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82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Limnology  │  University of Guyana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9667645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2A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C35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27432"/>
          </a:xfrm>
          <a:prstGeom prst="rect">
            <a:avLst/>
          </a:prstGeom>
          <a:solidFill>
            <a:srgbClr val="E4A01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Freshwater Biodiversity: Disproportionate Richness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11480" y="100584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F7F9F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02920" y="1005840"/>
            <a:ext cx="2423160" cy="4572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280160"/>
            <a:ext cx="2606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E7C7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&lt;1%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868680" y="2651760"/>
            <a:ext cx="1691640" cy="18288"/>
          </a:xfrm>
          <a:prstGeom prst="rect">
            <a:avLst/>
          </a:prstGeom>
          <a:solidFill>
            <a:srgbClr val="6B82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278892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Earth’s surface covered by freshwater ecosystems</a:t>
            </a:r>
          </a:p>
        </p:txBody>
      </p:sp>
      <p:sp>
        <p:nvSpPr>
          <p:cNvPr id="10" name="Shape 8"/>
          <p:cNvSpPr/>
          <p:nvPr/>
        </p:nvSpPr>
        <p:spPr>
          <a:xfrm>
            <a:off x="3218688" y="100584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F7F9F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310128" y="1005840"/>
            <a:ext cx="2423160" cy="45720"/>
          </a:xfrm>
          <a:prstGeom prst="rect">
            <a:avLst/>
          </a:prstGeom>
          <a:solidFill>
            <a:srgbClr val="17BE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18688" y="1280160"/>
            <a:ext cx="2606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7BEB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~10%</a:t>
            </a:r>
            <a:endParaRPr lang="en-US" sz="4000" dirty="0"/>
          </a:p>
        </p:txBody>
      </p:sp>
      <p:sp>
        <p:nvSpPr>
          <p:cNvPr id="13" name="Shape 11"/>
          <p:cNvSpPr/>
          <p:nvPr/>
        </p:nvSpPr>
        <p:spPr>
          <a:xfrm>
            <a:off x="3675888" y="2651760"/>
            <a:ext cx="1691640" cy="18288"/>
          </a:xfrm>
          <a:prstGeom prst="rect">
            <a:avLst/>
          </a:prstGeom>
          <a:solidFill>
            <a:srgbClr val="6B82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447288" y="278892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known animal species found in freshwater (Strayer &amp; Dudgeon, 2010)</a:t>
            </a:r>
          </a:p>
        </p:txBody>
      </p:sp>
      <p:sp>
        <p:nvSpPr>
          <p:cNvPr id="15" name="Shape 13"/>
          <p:cNvSpPr/>
          <p:nvPr/>
        </p:nvSpPr>
        <p:spPr>
          <a:xfrm>
            <a:off x="6016752" y="100584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F7F9F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108192" y="1005840"/>
            <a:ext cx="2423160" cy="45720"/>
          </a:xfrm>
          <a:prstGeom prst="rect">
            <a:avLst/>
          </a:prstGeom>
          <a:solidFill>
            <a:srgbClr val="E4A01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016752" y="1280160"/>
            <a:ext cx="2606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E4A01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~1/3</a:t>
            </a:r>
            <a:endParaRPr lang="en-US" sz="4000" dirty="0"/>
          </a:p>
        </p:txBody>
      </p:sp>
      <p:sp>
        <p:nvSpPr>
          <p:cNvPr id="18" name="Shape 16"/>
          <p:cNvSpPr/>
          <p:nvPr/>
        </p:nvSpPr>
        <p:spPr>
          <a:xfrm>
            <a:off x="6473952" y="2651760"/>
            <a:ext cx="1691640" cy="18288"/>
          </a:xfrm>
          <a:prstGeom prst="rect">
            <a:avLst/>
          </a:prstGeom>
          <a:solidFill>
            <a:srgbClr val="6B82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245352" y="278892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vertebrate species — over 17,800 fish species alone (Fricke et al., 2019)</a:t>
            </a:r>
          </a:p>
        </p:txBody>
      </p:sp>
      <p:sp>
        <p:nvSpPr>
          <p:cNvPr id="20" name="Text 18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82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Limnology  │  University of Guyana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5004611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2A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C35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27432"/>
          </a:xfrm>
          <a:prstGeom prst="rect">
            <a:avLst/>
          </a:prstGeom>
          <a:solidFill>
            <a:srgbClr val="E4A01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Freshwater in Crisis: Population Declines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3749040"/>
          </a:xfrm>
          <a:prstGeom prst="roundRect">
            <a:avLst>
              <a:gd name="adj" fmla="val 2439"/>
            </a:avLst>
          </a:prstGeom>
          <a:solidFill>
            <a:srgbClr val="F7F9F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8229600" cy="4572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143000"/>
            <a:ext cx="7863840" cy="3383280"/>
          </a:xfrm>
          <a:prstGeom prst="rect">
            <a:avLst/>
          </a:prstGeom>
          <a:noFill/>
          <a:ln/>
        </p:spPr>
        <p:txBody>
          <a:bodyPr wrap="square" lIns="63500" tIns="127000" rIns="127000" bIns="63500" rtlCol="0" anchor="t"/>
          <a:lstStyle/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lang="en-US" sz="16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84% decline</a:t>
            </a:r>
            <a:r>
              <a:rPr lang="en-US" sz="16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freshwater vertebrate populations since 1970 (WWF Living Planet Report, 2022)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lang="en-US" sz="16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to terrestrial (69%) and marine (56%) — freshwater is the most impacted biome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lang="en-US" sz="16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Wetlands vanishing 3× faster than forests (Tickner et al., 2020)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lang="en-US" sz="16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Yet freshwater receives disproportionately less conservation attention and funding</a:t>
            </a:r>
          </a:p>
        </p:txBody>
      </p:sp>
      <p:sp>
        <p:nvSpPr>
          <p:cNvPr id="8" name="Text 6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82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Limnology  │  University of Guyana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1479335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2A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C35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27432"/>
          </a:xfrm>
          <a:prstGeom prst="rect">
            <a:avLst/>
          </a:prstGeom>
          <a:solidFill>
            <a:srgbClr val="E4A01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Water Scarcity: Physical vs. Economic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3977640" cy="3657600"/>
          </a:xfrm>
          <a:prstGeom prst="roundRect">
            <a:avLst>
              <a:gd name="adj" fmla="val 2500"/>
            </a:avLst>
          </a:prstGeom>
          <a:solidFill>
            <a:srgbClr val="F7F9F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3794760" cy="4572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14300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7C7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Physical Scarcity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1645920"/>
            <a:ext cx="3520440" cy="2743200"/>
          </a:xfrm>
          <a:prstGeom prst="rect">
            <a:avLst/>
          </a:prstGeom>
          <a:noFill/>
          <a:ln/>
        </p:spPr>
        <p:txBody>
          <a:bodyPr wrap="square" lIns="25400" tIns="63500" rIns="63500" bIns="2540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resources insufficient for demand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N. Africa, Arabian Peninsula, Central/South Asia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Solutions: demand management, efficiency</a:t>
            </a:r>
          </a:p>
        </p:txBody>
      </p:sp>
      <p:sp>
        <p:nvSpPr>
          <p:cNvPr id="9" name="Shape 7"/>
          <p:cNvSpPr/>
          <p:nvPr/>
        </p:nvSpPr>
        <p:spPr>
          <a:xfrm>
            <a:off x="4800600" y="960120"/>
            <a:ext cx="3977640" cy="3657600"/>
          </a:xfrm>
          <a:prstGeom prst="roundRect">
            <a:avLst>
              <a:gd name="adj" fmla="val 2500"/>
            </a:avLst>
          </a:prstGeom>
          <a:solidFill>
            <a:srgbClr val="F7F9F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892040" y="960120"/>
            <a:ext cx="3794760" cy="45720"/>
          </a:xfrm>
          <a:prstGeom prst="rect">
            <a:avLst/>
          </a:prstGeom>
          <a:solidFill>
            <a:srgbClr val="E4A01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0" y="114300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4A01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Economic Scarcity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0" y="1645920"/>
            <a:ext cx="3520440" cy="2743200"/>
          </a:xfrm>
          <a:prstGeom prst="rect">
            <a:avLst/>
          </a:prstGeom>
          <a:noFill/>
          <a:ln/>
        </p:spPr>
        <p:txBody>
          <a:bodyPr wrap="square" lIns="25400" tIns="63500" rIns="63500" bIns="2540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available but infrastructure insufficient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Sub-Saharan Africa, S. America, Guyana’s hinterland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Solutions: infrastructure, governance reform</a:t>
            </a:r>
          </a:p>
        </p:txBody>
      </p:sp>
      <p:sp>
        <p:nvSpPr>
          <p:cNvPr id="13" name="Text 11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82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Limnology  │  University of Guyana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31749985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81E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E4A01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48640" y="2606040"/>
            <a:ext cx="2743200" cy="18288"/>
          </a:xfrm>
          <a:prstGeom prst="rect">
            <a:avLst/>
          </a:prstGeom>
          <a:solidFill>
            <a:srgbClr val="E4A01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Freshwater Ecosystem Services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28346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7B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framework for articulating why freshwater systems matter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2A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C35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27432"/>
          </a:xfrm>
          <a:prstGeom prst="rect">
            <a:avLst/>
          </a:prstGeom>
          <a:solidFill>
            <a:srgbClr val="E4A01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Are Ecosystem Services?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3749040"/>
          </a:xfrm>
          <a:prstGeom prst="roundRect">
            <a:avLst>
              <a:gd name="adj" fmla="val 2439"/>
            </a:avLst>
          </a:prstGeom>
          <a:solidFill>
            <a:srgbClr val="F7F9F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8229600" cy="4572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143000"/>
            <a:ext cx="7863840" cy="3383280"/>
          </a:xfrm>
          <a:prstGeom prst="rect">
            <a:avLst/>
          </a:prstGeom>
          <a:noFill/>
          <a:ln/>
        </p:spPr>
        <p:txBody>
          <a:bodyPr wrap="square" lIns="63500" tIns="127000" rIns="127000" bIns="63500" rtlCol="0" anchor="t"/>
          <a:lstStyle/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lang="en-US" sz="16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Millennium Ecosystem Assessment (2005)</a:t>
            </a:r>
            <a:r>
              <a:rPr lang="en-US" sz="16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UN-commissioned, 1,360+ scientists, 95 countries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lang="en-US" sz="16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Preceded by Daily’s </a:t>
            </a:r>
            <a:r>
              <a:rPr lang="en-US" sz="1600" i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Nature’s Services</a:t>
            </a:r>
            <a:r>
              <a:rPr lang="en-US" sz="16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(1997)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lang="en-US" sz="16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idea: ecosystems provide quantifiable benefits that can be categorised, measured, and valued economically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lang="en-US" sz="16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categories:</a:t>
            </a:r>
            <a:r>
              <a:rPr lang="en-US" sz="16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provisioning, regulating, supporting, cultural</a:t>
            </a:r>
          </a:p>
        </p:txBody>
      </p:sp>
      <p:sp>
        <p:nvSpPr>
          <p:cNvPr id="8" name="Text 6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82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Limnology  │  University of Guyana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5312186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2A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C35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27432"/>
          </a:xfrm>
          <a:prstGeom prst="rect">
            <a:avLst/>
          </a:prstGeom>
          <a:solidFill>
            <a:srgbClr val="E4A01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Four Categories of Freshwater Ecosystem Services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1188" y="960120"/>
            <a:ext cx="1920240" cy="3566160"/>
          </a:xfrm>
          <a:prstGeom prst="roundRect">
            <a:avLst>
              <a:gd name="adj" fmla="val 4762"/>
            </a:avLst>
          </a:prstGeom>
          <a:solidFill>
            <a:srgbClr val="F7F9F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2628" y="960120"/>
            <a:ext cx="1737360" cy="4572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98348" y="1143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7C7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Provisioning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0916" y="1737360"/>
            <a:ext cx="1700784" cy="25603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4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Drinking water</a:t>
            </a:r>
          </a:p>
          <a:p>
            <a:pPr marL="0" indent="0" algn="ctr">
              <a:spcAft>
                <a:spcPts val="400"/>
              </a:spcAft>
              <a:buNone/>
            </a:pPr>
            <a:r>
              <a:rPr lang="en-US" sz="14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Irrigation</a:t>
            </a:r>
          </a:p>
          <a:p>
            <a:pPr marL="0" indent="0" algn="ctr">
              <a:spcAft>
                <a:spcPts val="400"/>
              </a:spcAft>
              <a:buNone/>
            </a:pPr>
            <a:r>
              <a:rPr lang="en-US" sz="14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Inland fisheries</a:t>
            </a:r>
          </a:p>
          <a:p>
            <a:pPr marL="0" indent="0" algn="ctr">
              <a:spcAft>
                <a:spcPts val="400"/>
              </a:spcAft>
              <a:buNone/>
            </a:pPr>
            <a:r>
              <a:rPr lang="en-US" sz="14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Hydroelectric power</a:t>
            </a:r>
          </a:p>
        </p:txBody>
      </p:sp>
      <p:sp>
        <p:nvSpPr>
          <p:cNvPr id="9" name="Shape 7"/>
          <p:cNvSpPr/>
          <p:nvPr/>
        </p:nvSpPr>
        <p:spPr>
          <a:xfrm>
            <a:off x="2528316" y="960120"/>
            <a:ext cx="1920240" cy="3566160"/>
          </a:xfrm>
          <a:prstGeom prst="roundRect">
            <a:avLst>
              <a:gd name="adj" fmla="val 4762"/>
            </a:avLst>
          </a:prstGeom>
          <a:solidFill>
            <a:srgbClr val="F7F9F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619756" y="960120"/>
            <a:ext cx="1737360" cy="45720"/>
          </a:xfrm>
          <a:prstGeom prst="rect">
            <a:avLst/>
          </a:prstGeom>
          <a:solidFill>
            <a:srgbClr val="17BE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665476" y="1143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BEB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Regulating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638044" y="1737360"/>
            <a:ext cx="1700784" cy="25603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4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 attenuation</a:t>
            </a:r>
          </a:p>
          <a:p>
            <a:pPr marL="0" indent="0" algn="ctr">
              <a:spcAft>
                <a:spcPts val="400"/>
              </a:spcAft>
              <a:buNone/>
            </a:pPr>
            <a:r>
              <a:rPr lang="en-US" sz="14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purification</a:t>
            </a:r>
          </a:p>
          <a:p>
            <a:pPr marL="0" indent="0" algn="ctr">
              <a:spcAft>
                <a:spcPts val="400"/>
              </a:spcAft>
              <a:buNone/>
            </a:pPr>
            <a:r>
              <a:rPr lang="en-US" sz="14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 regulation</a:t>
            </a:r>
          </a:p>
        </p:txBody>
      </p:sp>
      <p:sp>
        <p:nvSpPr>
          <p:cNvPr id="13" name="Shape 11"/>
          <p:cNvSpPr/>
          <p:nvPr/>
        </p:nvSpPr>
        <p:spPr>
          <a:xfrm>
            <a:off x="4695444" y="960120"/>
            <a:ext cx="1920240" cy="3566160"/>
          </a:xfrm>
          <a:prstGeom prst="roundRect">
            <a:avLst>
              <a:gd name="adj" fmla="val 4762"/>
            </a:avLst>
          </a:prstGeom>
          <a:solidFill>
            <a:srgbClr val="F7F9F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786884" y="960120"/>
            <a:ext cx="1737360" cy="45720"/>
          </a:xfrm>
          <a:prstGeom prst="rect">
            <a:avLst/>
          </a:prstGeom>
          <a:solidFill>
            <a:srgbClr val="E4A01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32604" y="1143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4A01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Supporting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05172" y="1737360"/>
            <a:ext cx="1700784" cy="25603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4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Nutrient cycling</a:t>
            </a:r>
          </a:p>
          <a:p>
            <a:pPr marL="0" indent="0" algn="ctr">
              <a:spcAft>
                <a:spcPts val="400"/>
              </a:spcAft>
              <a:buNone/>
            </a:pPr>
            <a:r>
              <a:rPr lang="en-US" sz="14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production</a:t>
            </a:r>
          </a:p>
          <a:p>
            <a:pPr marL="0" indent="0" algn="ctr">
              <a:spcAft>
                <a:spcPts val="400"/>
              </a:spcAft>
              <a:buNone/>
            </a:pPr>
            <a:r>
              <a:rPr lang="en-US" sz="14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Habitat provision</a:t>
            </a:r>
          </a:p>
        </p:txBody>
      </p:sp>
      <p:sp>
        <p:nvSpPr>
          <p:cNvPr id="17" name="Shape 15"/>
          <p:cNvSpPr/>
          <p:nvPr/>
        </p:nvSpPr>
        <p:spPr>
          <a:xfrm>
            <a:off x="6862572" y="960120"/>
            <a:ext cx="1920240" cy="3566160"/>
          </a:xfrm>
          <a:prstGeom prst="roundRect">
            <a:avLst>
              <a:gd name="adj" fmla="val 4762"/>
            </a:avLst>
          </a:prstGeom>
          <a:solidFill>
            <a:srgbClr val="F7F9F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954012" y="960120"/>
            <a:ext cx="1737360" cy="45720"/>
          </a:xfrm>
          <a:prstGeom prst="rect">
            <a:avLst/>
          </a:prstGeom>
          <a:solidFill>
            <a:srgbClr val="2D8B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999732" y="1143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8B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Cultural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972300" y="1737360"/>
            <a:ext cx="1700784" cy="25603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4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Recreation/tourism</a:t>
            </a:r>
          </a:p>
          <a:p>
            <a:pPr marL="0" indent="0" algn="ctr">
              <a:spcAft>
                <a:spcPts val="400"/>
              </a:spcAft>
              <a:buNone/>
            </a:pPr>
            <a:r>
              <a:rPr lang="en-US" sz="14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Spiritual/cultural value</a:t>
            </a:r>
          </a:p>
          <a:p>
            <a:pPr marL="0" indent="0" algn="ctr">
              <a:spcAft>
                <a:spcPts val="400"/>
              </a:spcAft>
              <a:buNone/>
            </a:pPr>
            <a:r>
              <a:rPr lang="en-US" sz="14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Scientific/educational</a:t>
            </a:r>
          </a:p>
        </p:txBody>
      </p:sp>
      <p:sp>
        <p:nvSpPr>
          <p:cNvPr id="21" name="Text 19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82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Limnology  │  University of Guyana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2683295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2A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C35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27432"/>
          </a:xfrm>
          <a:prstGeom prst="rect">
            <a:avLst/>
          </a:prstGeom>
          <a:solidFill>
            <a:srgbClr val="E4A01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Freshwater Ecosystem Services in Guyana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3749040"/>
          </a:xfrm>
          <a:prstGeom prst="roundRect">
            <a:avLst>
              <a:gd name="adj" fmla="val 2439"/>
            </a:avLst>
          </a:prstGeom>
          <a:solidFill>
            <a:srgbClr val="F7F9F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8229600" cy="4572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143000"/>
            <a:ext cx="7863840" cy="3383280"/>
          </a:xfrm>
          <a:prstGeom prst="rect">
            <a:avLst/>
          </a:prstGeom>
          <a:noFill/>
          <a:ln/>
        </p:spPr>
        <p:txBody>
          <a:bodyPr wrap="square" lIns="63500" tIns="127000" rIns="127000" bIns="63500" rtlCol="0" anchor="t"/>
          <a:lstStyle/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lang="en-US" sz="16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Provisioning:</a:t>
            </a:r>
            <a:r>
              <a:rPr lang="en-US" sz="16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rivers and groundwater = primary drinking water for rural/Indigenous communities; inland fisheries provide critical protein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lang="en-US" sz="16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Mercury from ASGM (~70% of gold production; ~35,820 kg Hg in 2013) threatens fisheries and health (Persaud et al., 2020)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lang="en-US" sz="16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Regulating:</a:t>
            </a:r>
            <a:r>
              <a:rPr lang="en-US" sz="16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Rupununi wetlands provide flood attenuation; riparian forests maintain water quality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lang="en-US" sz="16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 of population on coastal strip (&lt;7% of area) — sea-level rise and saline intrusion are existential threats (Dalrymple, 2006)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lang="en-US" sz="1600" i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gap: economic value of these services has not been systematically quantified for Guyana</a:t>
            </a:r>
          </a:p>
        </p:txBody>
      </p:sp>
      <p:sp>
        <p:nvSpPr>
          <p:cNvPr id="8" name="Text 6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82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Limnology  │  University of Guyana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9476081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2A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C35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27432"/>
          </a:xfrm>
          <a:prstGeom prst="rect">
            <a:avLst/>
          </a:prstGeom>
          <a:solidFill>
            <a:srgbClr val="E4A01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Valuing Freshwater Services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3749040"/>
          </a:xfrm>
          <a:prstGeom prst="roundRect">
            <a:avLst>
              <a:gd name="adj" fmla="val 2439"/>
            </a:avLst>
          </a:prstGeom>
          <a:solidFill>
            <a:srgbClr val="F7F9F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8229600" cy="4572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143000"/>
            <a:ext cx="7863840" cy="3383280"/>
          </a:xfrm>
          <a:prstGeom prst="rect">
            <a:avLst/>
          </a:prstGeom>
          <a:noFill/>
          <a:ln/>
        </p:spPr>
        <p:txBody>
          <a:bodyPr wrap="square" lIns="63500" tIns="127000" rIns="127000" bIns="63500" rtlCol="0" anchor="t"/>
          <a:lstStyle/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Costanza et al. (1997): global ecosystem services ~US$33 trillion/yr (1995 dollars) — exceeding global GNP.</a:t>
            </a:r>
            <a:endParaRPr lang="en-US" sz="16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2014 update: ~US$125 trillion/yr (2007 dollars). Loss from land use change: $4.3–20.2 trillion/yr (Costanza et al., 2014).</a:t>
            </a:r>
            <a:endParaRPr lang="en-US" sz="16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 are contested (market pricing, replacement cost, contingent valuation, benefit transfer).</a:t>
            </a:r>
            <a:endParaRPr lang="en-US" sz="1600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without valuation, ecosystem services remain invisible in policy. When a mine is evaluated, gold benefits are quantified; degraded fisheries and contaminated water typically are not.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82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Limnology  │  University of Guyana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2A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C35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27432"/>
          </a:xfrm>
          <a:prstGeom prst="rect">
            <a:avLst/>
          </a:prstGeom>
          <a:solidFill>
            <a:srgbClr val="E4A01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Mid-Lecture Recap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051560"/>
            <a:ext cx="7680960" cy="3566160"/>
          </a:xfrm>
          <a:prstGeom prst="rect">
            <a:avLst/>
          </a:prstGeom>
          <a:noFill/>
          <a:ln/>
        </p:spPr>
        <p:txBody>
          <a:bodyPr wrap="square" lIns="63500" tIns="127000" rIns="127000" bIns="6350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freshwater = 0.007% of Earth’s water, yet supports most human demand and disproportionate biodiversity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Freshwater covers &lt;1% of surface, hosts ~1/3 of vertebrates — declining 84% since 1970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Guyana’s Rupununi Portal connects Essequibo and Amazon → 450+ fish species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ASGM mercury → biomagnification → Indigenous health risk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Ecosystem services framework quantifies what’s at stake — Guyana lacks systematic valuation</a:t>
            </a:r>
          </a:p>
        </p:txBody>
      </p:sp>
      <p:sp>
        <p:nvSpPr>
          <p:cNvPr id="6" name="Text 4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82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Limnology  │  University of Guyana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346534173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81E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731520"/>
            <a:ext cx="7315200" cy="3657600"/>
          </a:xfrm>
          <a:prstGeom prst="roundRect">
            <a:avLst>
              <a:gd name="adj" fmla="val 2500"/>
            </a:avLst>
          </a:prstGeom>
          <a:solidFill>
            <a:srgbClr val="F7F9F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05840" y="731520"/>
            <a:ext cx="7132320" cy="45720"/>
          </a:xfrm>
          <a:prstGeom prst="rect">
            <a:avLst/>
          </a:prstGeom>
          <a:solidFill>
            <a:srgbClr val="E4A01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234440" y="100584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4A01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DISCUSSION</a:t>
            </a:r>
          </a:p>
        </p:txBody>
      </p:sp>
      <p:sp>
        <p:nvSpPr>
          <p:cNvPr id="5" name="Text 3"/>
          <p:cNvSpPr/>
          <p:nvPr/>
        </p:nvSpPr>
        <p:spPr>
          <a:xfrm>
            <a:off x="1234440" y="1417320"/>
            <a:ext cx="6675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C2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THINK–PAIR–SHARE: If you could establish a freshwater monitoring programme for one river system in Guyana, which would you choose, what would you measure, and what pattern would you expect?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34440" y="352044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Consider: Which system faces the most pressure? What parameters capture key threats? 90 seconds to write, then 3 minutes in breakout pairs.</a:t>
            </a:r>
          </a:p>
        </p:txBody>
      </p:sp>
    </p:spTree>
    <p:extLst>
      <p:ext uri="{BB962C8B-B14F-4D97-AF65-F5344CB8AC3E}">
        <p14:creationId xmlns:p14="http://schemas.microsoft.com/office/powerpoint/2010/main" val="108936685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406B9B2-1932-C248-2EDC-424D345E7939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33520" y="1307028"/>
            <a:ext cx="1778772" cy="1778772"/>
          </a:xfrm>
          <a:prstGeom prst="rect">
            <a:avLst/>
          </a:pr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79156FE-B8A4-4C3E-1317-1D303D77DE7A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2334638" y="750673"/>
            <a:ext cx="6364669" cy="2891481"/>
          </a:xfrm>
          <a:prstGeom prst="rect">
            <a:avLst/>
          </a:prstGeom>
          <a:noFill/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000" b="1">
                <a:solidFill>
                  <a:srgbClr val="000000"/>
                </a:solidFill>
              </a:rPr>
              <a:t>What is the first thing you would measure in a freshwater monitoring program?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8B21C4E-AC61-00F7-2639-3931FB935CB8}"/>
              </a:ext>
            </a:extLst>
          </p:cNvPr>
          <p:cNvSpPr/>
          <p:nvPr/>
        </p:nvSpPr>
        <p:spPr>
          <a:xfrm>
            <a:off x="0" y="4365024"/>
            <a:ext cx="9144000" cy="778476"/>
          </a:xfrm>
          <a:prstGeom prst="rect">
            <a:avLst/>
          </a:prstGeom>
          <a:solidFill>
            <a:srgbClr val="19803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55866" tIns="194619" rIns="1389666" bIns="152915" rtlCol="0" anchor="ctr">
            <a:normAutofit fontScale="70000" lnSpcReduction="200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DA64B285-15EE-F800-97A4-8B919AE8714E}"/>
              </a:ext>
            </a:extLst>
          </p:cNvPr>
          <p:cNvPicPr>
            <a:picLocks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</p:spPr>
      </p:pic>
      <p:sp>
        <p:nvSpPr>
          <p:cNvPr id="7" name="Trapezoid 6">
            <a:extLst>
              <a:ext uri="{FF2B5EF4-FFF2-40B4-BE49-F238E27FC236}">
                <a16:creationId xmlns:a16="http://schemas.microsoft.com/office/drawing/2014/main" id="{5FC51EDE-21F6-5D19-B619-713ECEB9B345}"/>
              </a:ext>
            </a:extLst>
          </p:cNvPr>
          <p:cNvSpPr/>
          <p:nvPr/>
        </p:nvSpPr>
        <p:spPr>
          <a:xfrm rot="2700000">
            <a:off x="7215278" y="386193"/>
            <a:ext cx="2501399" cy="583660"/>
          </a:xfrm>
          <a:prstGeom prst="trapezoid">
            <a:avLst>
              <a:gd name="adj" fmla="val 100000"/>
            </a:avLst>
          </a:prstGeom>
          <a:solidFill>
            <a:srgbClr val="EDFAF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55000" lnSpcReduction="20000"/>
          </a:bodyPr>
          <a:lstStyle/>
          <a:p>
            <a:pPr algn="ctr"/>
            <a:r>
              <a:rPr lang="en-US" sz="2600" b="1">
                <a:solidFill>
                  <a:srgbClr val="198038"/>
                </a:solidFill>
              </a:rPr>
              <a:t>Do not edit
</a:t>
            </a:r>
            <a:r>
              <a:rPr lang="en-US" sz="2200">
                <a:solidFill>
                  <a:srgbClr val="198038"/>
                </a:solid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lang="en-US" sz="2200">
              <a:solidFill>
                <a:srgbClr val="198038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DC52A314-A11E-BEC2-3A0B-01CD4C5365FA}"/>
              </a:ext>
            </a:extLst>
          </p:cNvPr>
          <p:cNvPicPr>
            <a:picLocks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060062" y="4615295"/>
            <a:ext cx="833799" cy="27793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59242430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81E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E4A01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48640" y="2606040"/>
            <a:ext cx="2743200" cy="18288"/>
          </a:xfrm>
          <a:prstGeom prst="rect">
            <a:avLst/>
          </a:prstGeom>
          <a:solidFill>
            <a:srgbClr val="E4A01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Temperate Bias in Limnology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28346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7B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know, where we know it, and what that means for Guyana</a:t>
            </a:r>
            <a:endParaRPr lang="en-US" sz="1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2A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C35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27432"/>
          </a:xfrm>
          <a:prstGeom prst="rect">
            <a:avLst/>
          </a:prstGeom>
          <a:solidFill>
            <a:srgbClr val="E4A01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 Know — and Where We Know It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3749040"/>
          </a:xfrm>
          <a:prstGeom prst="roundRect">
            <a:avLst>
              <a:gd name="adj" fmla="val 2439"/>
            </a:avLst>
          </a:prstGeom>
          <a:solidFill>
            <a:srgbClr val="F7F9F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8229600" cy="4572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143000"/>
            <a:ext cx="7863840" cy="3383280"/>
          </a:xfrm>
          <a:prstGeom prst="rect">
            <a:avLst/>
          </a:prstGeom>
          <a:noFill/>
          <a:ln/>
        </p:spPr>
        <p:txBody>
          <a:bodyPr wrap="square" lIns="63500" tIns="127000" rIns="127000" bIns="63500" rtlCol="0" anchor="t"/>
          <a:lstStyle/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lang="en-US" sz="16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Foundational frameworks</a:t>
            </a:r>
            <a:r>
              <a:rPr lang="en-US" sz="16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(Lindeman, Vollenweider, River Continuum Concept) were built for temperate Northern Hemisphere systems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lang="en-US" sz="16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Guiana Shield has some of the largest intact forests globally, yet sparse baseline hydrological and water quality data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lang="en-US" sz="16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Temperate-calibrated management tools may give misleading results in tropical settings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lang="en-US" sz="1600" i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 scientific gap and a professional opportunity — the field needs researchers producing foundational tropical datasets</a:t>
            </a:r>
          </a:p>
        </p:txBody>
      </p:sp>
      <p:sp>
        <p:nvSpPr>
          <p:cNvPr id="8" name="Text 6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82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Limnology  │  University of Guyana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60562917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81E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731520"/>
            <a:ext cx="7315200" cy="3657600"/>
          </a:xfrm>
          <a:prstGeom prst="roundRect">
            <a:avLst>
              <a:gd name="adj" fmla="val 2500"/>
            </a:avLst>
          </a:prstGeom>
          <a:solidFill>
            <a:srgbClr val="F7F9F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05840" y="731520"/>
            <a:ext cx="7132320" cy="45720"/>
          </a:xfrm>
          <a:prstGeom prst="rect">
            <a:avLst/>
          </a:prstGeom>
          <a:solidFill>
            <a:srgbClr val="E4A01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234440" y="100584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4A01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DISCUSSION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34440" y="1417320"/>
            <a:ext cx="6675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C2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MINI-DEBATE: Position A — Temperate-derived frameworks are universal scientific principles that apply globally. Position B — They are context-dependent models that should carry explicit geographic scope limitations. Pick a side and argue for it — name one specific framework.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34440" y="352044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minutes. Be specific: which framework, and why does it or doesn’t it transfer to tropical systems?</a:t>
            </a:r>
            <a:endParaRPr lang="en-US" sz="13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2D62F7C-E4BC-517B-28D4-99F8E043C3EE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33520" y="1307028"/>
            <a:ext cx="1778772" cy="1778772"/>
          </a:xfrm>
          <a:prstGeom prst="rect">
            <a:avLst/>
          </a:pr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C504F77-C24C-5ACD-CAC8-CAFBE41B6E84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2334638" y="750673"/>
            <a:ext cx="6364669" cy="2891481"/>
          </a:xfrm>
          <a:prstGeom prst="rect">
            <a:avLst/>
          </a:prstGeom>
          <a:noFill/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000" b="1">
                <a:solidFill>
                  <a:srgbClr val="000000"/>
                </a:solidFill>
              </a:rPr>
              <a:t>Which position do you agree with?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872A7C9-C1B6-FF71-747C-6408D63E9E80}"/>
              </a:ext>
            </a:extLst>
          </p:cNvPr>
          <p:cNvSpPr/>
          <p:nvPr/>
        </p:nvSpPr>
        <p:spPr>
          <a:xfrm>
            <a:off x="0" y="4365024"/>
            <a:ext cx="9144000" cy="778476"/>
          </a:xfrm>
          <a:prstGeom prst="rect">
            <a:avLst/>
          </a:prstGeom>
          <a:solidFill>
            <a:srgbClr val="19803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55866" tIns="194619" rIns="1389666" bIns="152915" rtlCol="0" anchor="ctr">
            <a:normAutofit fontScale="70000" lnSpcReduction="200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841A4086-177D-5EA8-E049-2A2315F55754}"/>
              </a:ext>
            </a:extLst>
          </p:cNvPr>
          <p:cNvPicPr>
            <a:picLocks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</p:spPr>
      </p:pic>
      <p:sp>
        <p:nvSpPr>
          <p:cNvPr id="7" name="Trapezoid 6">
            <a:extLst>
              <a:ext uri="{FF2B5EF4-FFF2-40B4-BE49-F238E27FC236}">
                <a16:creationId xmlns:a16="http://schemas.microsoft.com/office/drawing/2014/main" id="{313066D1-6872-2B1B-2CC6-BECF5A503004}"/>
              </a:ext>
            </a:extLst>
          </p:cNvPr>
          <p:cNvSpPr/>
          <p:nvPr/>
        </p:nvSpPr>
        <p:spPr>
          <a:xfrm rot="2700000">
            <a:off x="7215278" y="386193"/>
            <a:ext cx="2501399" cy="583660"/>
          </a:xfrm>
          <a:prstGeom prst="trapezoid">
            <a:avLst>
              <a:gd name="adj" fmla="val 100000"/>
            </a:avLst>
          </a:prstGeom>
          <a:solidFill>
            <a:srgbClr val="EDFAF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55000" lnSpcReduction="20000"/>
          </a:bodyPr>
          <a:lstStyle/>
          <a:p>
            <a:pPr algn="ctr"/>
            <a:r>
              <a:rPr lang="en-US" sz="2600" b="1">
                <a:solidFill>
                  <a:srgbClr val="198038"/>
                </a:solidFill>
              </a:rPr>
              <a:t>Do not edit
</a:t>
            </a:r>
            <a:r>
              <a:rPr lang="en-US" sz="2200">
                <a:solidFill>
                  <a:srgbClr val="198038"/>
                </a:solid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lang="en-US" sz="2200">
              <a:solidFill>
                <a:srgbClr val="198038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0356CB58-8827-246B-6ED8-49B8D0927920}"/>
              </a:ext>
            </a:extLst>
          </p:cNvPr>
          <p:cNvPicPr>
            <a:picLocks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060062" y="4615295"/>
            <a:ext cx="833799" cy="27793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83230598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2A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C35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27432"/>
          </a:xfrm>
          <a:prstGeom prst="rect">
            <a:avLst/>
          </a:prstGeom>
          <a:solidFill>
            <a:srgbClr val="E4A01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Limnology in the 21st Century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1188" y="960120"/>
            <a:ext cx="1920240" cy="3566160"/>
          </a:xfrm>
          <a:prstGeom prst="roundRect">
            <a:avLst>
              <a:gd name="adj" fmla="val 4762"/>
            </a:avLst>
          </a:prstGeom>
          <a:solidFill>
            <a:srgbClr val="F7F9F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2628" y="960120"/>
            <a:ext cx="1737360" cy="4572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98348" y="1143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7C7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eDNA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0916" y="1737360"/>
            <a:ext cx="1700784" cy="25603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4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species from water samples</a:t>
            </a:r>
          </a:p>
          <a:p>
            <a:pPr marL="0" indent="0" algn="ctr">
              <a:spcAft>
                <a:spcPts val="400"/>
              </a:spcAft>
              <a:buNone/>
            </a:pPr>
            <a:r>
              <a:rPr lang="en-US" sz="14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for tropical biodiversity</a:t>
            </a:r>
          </a:p>
          <a:p>
            <a:pPr marL="0" indent="0" algn="ctr">
              <a:spcAft>
                <a:spcPts val="400"/>
              </a:spcAft>
              <a:buNone/>
            </a:pPr>
            <a:r>
              <a:rPr lang="en-US" sz="1400" i="1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Deiner et al., 2017</a:t>
            </a:r>
          </a:p>
        </p:txBody>
      </p:sp>
      <p:sp>
        <p:nvSpPr>
          <p:cNvPr id="9" name="Shape 7"/>
          <p:cNvSpPr/>
          <p:nvPr/>
        </p:nvSpPr>
        <p:spPr>
          <a:xfrm>
            <a:off x="2528316" y="960120"/>
            <a:ext cx="1920240" cy="3566160"/>
          </a:xfrm>
          <a:prstGeom prst="roundRect">
            <a:avLst>
              <a:gd name="adj" fmla="val 4762"/>
            </a:avLst>
          </a:prstGeom>
          <a:solidFill>
            <a:srgbClr val="F7F9F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619756" y="960120"/>
            <a:ext cx="1737360" cy="45720"/>
          </a:xfrm>
          <a:prstGeom prst="rect">
            <a:avLst/>
          </a:prstGeom>
          <a:solidFill>
            <a:srgbClr val="17BE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665476" y="1143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BEB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Remote Sensing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638044" y="1737360"/>
            <a:ext cx="1700784" cy="25603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4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Chlorophyll-a, turbidity, CDOM</a:t>
            </a:r>
          </a:p>
          <a:p>
            <a:pPr marL="0" indent="0" algn="ctr">
              <a:spcAft>
                <a:spcPts val="400"/>
              </a:spcAft>
              <a:buNone/>
            </a:pPr>
            <a:r>
              <a:rPr lang="en-US" sz="14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Sentinel-2, Landsat (free)</a:t>
            </a:r>
          </a:p>
          <a:p>
            <a:pPr marL="0" indent="0" algn="ctr">
              <a:spcAft>
                <a:spcPts val="400"/>
              </a:spcAft>
              <a:buNone/>
            </a:pPr>
            <a:r>
              <a:rPr lang="en-US" sz="14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blooms at scale</a:t>
            </a:r>
          </a:p>
        </p:txBody>
      </p:sp>
      <p:sp>
        <p:nvSpPr>
          <p:cNvPr id="13" name="Shape 11"/>
          <p:cNvSpPr/>
          <p:nvPr/>
        </p:nvSpPr>
        <p:spPr>
          <a:xfrm>
            <a:off x="4695444" y="960120"/>
            <a:ext cx="1920240" cy="3566160"/>
          </a:xfrm>
          <a:prstGeom prst="roundRect">
            <a:avLst>
              <a:gd name="adj" fmla="val 4762"/>
            </a:avLst>
          </a:prstGeom>
          <a:solidFill>
            <a:srgbClr val="F7F9F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786884" y="960120"/>
            <a:ext cx="1737360" cy="45720"/>
          </a:xfrm>
          <a:prstGeom prst="rect">
            <a:avLst/>
          </a:prstGeom>
          <a:solidFill>
            <a:srgbClr val="E4A01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32604" y="1143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4A01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Emerging Contaminants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05172" y="1737360"/>
            <a:ext cx="1700784" cy="25603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4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Pharmaceuticals, microplastics, PFAS</a:t>
            </a:r>
          </a:p>
          <a:p>
            <a:pPr marL="0" indent="0" algn="ctr">
              <a:spcAft>
                <a:spcPts val="400"/>
              </a:spcAft>
              <a:buNone/>
            </a:pPr>
            <a:r>
              <a:rPr lang="en-US" sz="14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Parts-per-trillion detection</a:t>
            </a:r>
          </a:p>
          <a:p>
            <a:pPr marL="0" indent="0" algn="ctr">
              <a:spcAft>
                <a:spcPts val="400"/>
              </a:spcAft>
              <a:buNone/>
            </a:pPr>
            <a:r>
              <a:rPr lang="en-US" sz="14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Mixture effects unresolved</a:t>
            </a:r>
          </a:p>
        </p:txBody>
      </p:sp>
      <p:sp>
        <p:nvSpPr>
          <p:cNvPr id="17" name="Shape 15"/>
          <p:cNvSpPr/>
          <p:nvPr/>
        </p:nvSpPr>
        <p:spPr>
          <a:xfrm>
            <a:off x="6862572" y="960120"/>
            <a:ext cx="1920240" cy="3566160"/>
          </a:xfrm>
          <a:prstGeom prst="roundRect">
            <a:avLst>
              <a:gd name="adj" fmla="val 4762"/>
            </a:avLst>
          </a:prstGeom>
          <a:solidFill>
            <a:srgbClr val="F7F9F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954012" y="960120"/>
            <a:ext cx="1737360" cy="45720"/>
          </a:xfrm>
          <a:prstGeom prst="rect">
            <a:avLst/>
          </a:prstGeom>
          <a:solidFill>
            <a:srgbClr val="2D8B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999732" y="1143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8B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Science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972300" y="1737360"/>
            <a:ext cx="1700784" cy="25603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4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High-frequency sensors, autonomous buoys</a:t>
            </a:r>
          </a:p>
          <a:p>
            <a:pPr marL="0" indent="0" algn="ctr">
              <a:spcAft>
                <a:spcPts val="400"/>
              </a:spcAft>
              <a:buNone/>
            </a:pPr>
            <a:r>
              <a:rPr lang="en-US" sz="14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for pattern detection</a:t>
            </a:r>
          </a:p>
          <a:p>
            <a:pPr marL="0" indent="0" algn="ctr">
              <a:spcAft>
                <a:spcPts val="400"/>
              </a:spcAft>
              <a:buNone/>
            </a:pPr>
            <a:r>
              <a:rPr lang="en-US" sz="14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GLEON network</a:t>
            </a:r>
          </a:p>
        </p:txBody>
      </p:sp>
      <p:sp>
        <p:nvSpPr>
          <p:cNvPr id="21" name="Text 19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82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Limnology  │  University of Guyana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328195963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81E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914400"/>
            <a:ext cx="36576" cy="3200400"/>
          </a:xfrm>
          <a:prstGeom prst="rect">
            <a:avLst/>
          </a:prstGeom>
          <a:solidFill>
            <a:srgbClr val="E4A01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4572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E4A0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1097280" y="1371600"/>
            <a:ext cx="7132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20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every glass of water we drink, some of the water has already passed through fishes, trees, bacteria, worms in the soil, and many other organisms, including people.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384048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7B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Widely attributed to Elliot A. Norse, marine conservation biologist</a:t>
            </a:r>
            <a:endParaRPr lang="en-US" sz="1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81E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E4A01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48640" y="2606040"/>
            <a:ext cx="2743200" cy="18288"/>
          </a:xfrm>
          <a:prstGeom prst="rect">
            <a:avLst/>
          </a:prstGeom>
          <a:solidFill>
            <a:srgbClr val="E4A01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Course Structure &amp; Expectations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28346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7B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you’ll learn, how the course is organised, and what I expect from you</a:t>
            </a:r>
            <a:endParaRPr lang="en-US" sz="16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B2A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C35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27432"/>
          </a:xfrm>
          <a:prstGeom prst="rect">
            <a:avLst/>
          </a:prstGeom>
          <a:solidFill>
            <a:srgbClr val="E4A01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13-Week Journey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329184" cy="329184"/>
          </a:xfrm>
          <a:prstGeom prst="ellipse">
            <a:avLst/>
          </a:prstGeom>
          <a:solidFill>
            <a:srgbClr val="E4A01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0515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05840" y="103327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4A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Freshwater Matters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554480"/>
            <a:ext cx="329184" cy="329184"/>
          </a:xfrm>
          <a:prstGeom prst="ellipse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15544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05840" y="153619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Water Works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057400"/>
            <a:ext cx="329184" cy="329184"/>
          </a:xfrm>
          <a:prstGeom prst="ellipse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20574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05840" y="203911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Rivers &amp; Streams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2560320"/>
            <a:ext cx="329184" cy="329184"/>
          </a:xfrm>
          <a:prstGeom prst="ellipse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8640" y="25603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05840" y="254203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Lakes &amp; Reservoirs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063240"/>
            <a:ext cx="329184" cy="329184"/>
          </a:xfrm>
          <a:prstGeom prst="ellipse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48640" y="30632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05840" y="304495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Nutrients &amp; Eutrophication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566160"/>
            <a:ext cx="329184" cy="329184"/>
          </a:xfrm>
          <a:prstGeom prst="ellipse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48640" y="3566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05840" y="354787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Wetlands &amp; Estuaries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4069080"/>
            <a:ext cx="329184" cy="329184"/>
          </a:xfrm>
          <a:prstGeom prst="ellipse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48640" y="40690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005840" y="405079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Plankton &amp; Biodiversity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754880" y="1051560"/>
            <a:ext cx="329184" cy="329184"/>
          </a:xfrm>
          <a:prstGeom prst="ellipse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754880" y="10515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212080" y="103327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Bioassessment &amp; Monitoring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754880" y="1554480"/>
            <a:ext cx="329184" cy="329184"/>
          </a:xfrm>
          <a:prstGeom prst="ellipse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754880" y="15544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212080" y="153619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Pollution I: Visible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754880" y="2057400"/>
            <a:ext cx="329184" cy="329184"/>
          </a:xfrm>
          <a:prstGeom prst="ellipse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754880" y="20574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212080" y="203911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Pollution II: Invisible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754880" y="2560320"/>
            <a:ext cx="329184" cy="329184"/>
          </a:xfrm>
          <a:prstGeom prst="ellipse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754880" y="25603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212080" y="254203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Governance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754880" y="3063240"/>
            <a:ext cx="329184" cy="329184"/>
          </a:xfrm>
          <a:prstGeom prst="ellipse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754880" y="30632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212080" y="304495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 Change &amp; Freshwater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754880" y="3566160"/>
            <a:ext cx="329184" cy="329184"/>
          </a:xfrm>
          <a:prstGeom prst="ellipse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754880" y="3566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13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212080" y="354787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of Freshwater Science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82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Limnology  │  University of Guyana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37043017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B2A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C35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27432"/>
          </a:xfrm>
          <a:prstGeom prst="rect">
            <a:avLst/>
          </a:prstGeom>
          <a:solidFill>
            <a:srgbClr val="E4A01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This Course Is (and Isn’t)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3977640" cy="3657600"/>
          </a:xfrm>
          <a:prstGeom prst="roundRect">
            <a:avLst>
              <a:gd name="adj" fmla="val 2500"/>
            </a:avLst>
          </a:prstGeom>
          <a:solidFill>
            <a:srgbClr val="F7F9F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3794760" cy="4572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14300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7C7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It Is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1645920"/>
            <a:ext cx="3520440" cy="2743200"/>
          </a:xfrm>
          <a:prstGeom prst="rect">
            <a:avLst/>
          </a:prstGeom>
          <a:noFill/>
          <a:ln/>
        </p:spPr>
        <p:txBody>
          <a:bodyPr wrap="square" lIns="25400" tIns="63500" rIns="63500" bIns="2540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Integrative and applied — concepts connected to real systems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Interdisciplinary — chemistry, biology, physics, policy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Prioritises Guyana and tropical contexts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engagement and critical thinking</a:t>
            </a:r>
          </a:p>
        </p:txBody>
      </p:sp>
      <p:sp>
        <p:nvSpPr>
          <p:cNvPr id="9" name="Shape 7"/>
          <p:cNvSpPr/>
          <p:nvPr/>
        </p:nvSpPr>
        <p:spPr>
          <a:xfrm>
            <a:off x="4800600" y="960120"/>
            <a:ext cx="3977640" cy="3657600"/>
          </a:xfrm>
          <a:prstGeom prst="roundRect">
            <a:avLst>
              <a:gd name="adj" fmla="val 2500"/>
            </a:avLst>
          </a:prstGeom>
          <a:solidFill>
            <a:srgbClr val="F7F9F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892040" y="960120"/>
            <a:ext cx="3794760" cy="45720"/>
          </a:xfrm>
          <a:prstGeom prst="rect">
            <a:avLst/>
          </a:prstGeom>
          <a:solidFill>
            <a:srgbClr val="E4A01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0" y="114300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4A01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It Isn’t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0" y="1645920"/>
            <a:ext cx="3520440" cy="2743200"/>
          </a:xfrm>
          <a:prstGeom prst="rect">
            <a:avLst/>
          </a:prstGeom>
          <a:noFill/>
          <a:ln/>
        </p:spPr>
        <p:txBody>
          <a:bodyPr wrap="square" lIns="25400" tIns="63500" rIns="63500" bIns="2540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memorisation exercise — interpretation over recitation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Restricted to lakes — covers all inland waters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— cross-disciplinary synthesis is challenging but rewarding</a:t>
            </a:r>
          </a:p>
        </p:txBody>
      </p:sp>
      <p:sp>
        <p:nvSpPr>
          <p:cNvPr id="13" name="Text 11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82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Limnology  │  University of Guyana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57490444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B2A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C35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27432"/>
          </a:xfrm>
          <a:prstGeom prst="rect">
            <a:avLst/>
          </a:prstGeom>
          <a:solidFill>
            <a:srgbClr val="E4A01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Four Themes Running Through This Course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1097280"/>
            <a:ext cx="457200" cy="457200"/>
          </a:xfrm>
          <a:prstGeom prst="ellipse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25880" y="107899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Connectivity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25880" y="13990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7B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Longitudinal, lateral, vertical, temporal — disruption cascades</a:t>
            </a:r>
          </a:p>
        </p:txBody>
      </p:sp>
      <p:sp>
        <p:nvSpPr>
          <p:cNvPr id="9" name="Shape 7"/>
          <p:cNvSpPr/>
          <p:nvPr/>
        </p:nvSpPr>
        <p:spPr>
          <a:xfrm>
            <a:off x="640080" y="2057400"/>
            <a:ext cx="457200" cy="457200"/>
          </a:xfrm>
          <a:prstGeom prst="ellipse">
            <a:avLst/>
          </a:prstGeom>
          <a:solidFill>
            <a:srgbClr val="E4A01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25880" y="203911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Scale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25880" y="235915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7B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to global — moving between scales is a core skill</a:t>
            </a:r>
          </a:p>
        </p:txBody>
      </p:sp>
      <p:sp>
        <p:nvSpPr>
          <p:cNvPr id="13" name="Shape 11"/>
          <p:cNvSpPr/>
          <p:nvPr/>
        </p:nvSpPr>
        <p:spPr>
          <a:xfrm>
            <a:off x="640080" y="3017520"/>
            <a:ext cx="457200" cy="457200"/>
          </a:xfrm>
          <a:prstGeom prst="ellipse">
            <a:avLst/>
          </a:prstGeom>
          <a:solidFill>
            <a:srgbClr val="17BE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25880" y="29992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Human Impact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25880" y="331927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7B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pristine system remains — the Anthropocene is the context</a:t>
            </a:r>
          </a:p>
        </p:txBody>
      </p:sp>
      <p:sp>
        <p:nvSpPr>
          <p:cNvPr id="17" name="Shape 15"/>
          <p:cNvSpPr/>
          <p:nvPr/>
        </p:nvSpPr>
        <p:spPr>
          <a:xfrm>
            <a:off x="640080" y="3977640"/>
            <a:ext cx="457200" cy="457200"/>
          </a:xfrm>
          <a:prstGeom prst="ellipse">
            <a:avLst/>
          </a:prstGeom>
          <a:solidFill>
            <a:srgbClr val="2D8B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0080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25880" y="395935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Tropical Frontiers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325880" y="427939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7B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Temperate bias is real — the research need is at your doorstep</a:t>
            </a:r>
          </a:p>
        </p:txBody>
      </p:sp>
      <p:sp>
        <p:nvSpPr>
          <p:cNvPr id="21" name="Text 19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82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Limnology  │  University of Guyana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411105248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81E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731520"/>
            <a:ext cx="7315200" cy="3657600"/>
          </a:xfrm>
          <a:prstGeom prst="roundRect">
            <a:avLst>
              <a:gd name="adj" fmla="val 2500"/>
            </a:avLst>
          </a:prstGeom>
          <a:solidFill>
            <a:srgbClr val="F7F9F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05840" y="731520"/>
            <a:ext cx="7132320" cy="45720"/>
          </a:xfrm>
          <a:prstGeom prst="rect">
            <a:avLst/>
          </a:prstGeom>
          <a:solidFill>
            <a:srgbClr val="E4A01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234440" y="100584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4A01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DISCUSSION</a:t>
            </a:r>
          </a:p>
        </p:txBody>
      </p:sp>
      <p:sp>
        <p:nvSpPr>
          <p:cNvPr id="5" name="Text 3"/>
          <p:cNvSpPr/>
          <p:nvPr/>
        </p:nvSpPr>
        <p:spPr>
          <a:xfrm>
            <a:off x="1234440" y="1417320"/>
            <a:ext cx="6675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C2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the most significant freshwater challenge facing Guyana today?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34440" y="352044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Consider: mercury contamination, coastal sea-level rise, hinterland drinking water access, biodiversity loss, monitoring gaps, governance capacity. We will revisit this in Week 13.</a:t>
            </a:r>
          </a:p>
        </p:txBody>
      </p:sp>
    </p:spTree>
    <p:extLst>
      <p:ext uri="{BB962C8B-B14F-4D97-AF65-F5344CB8AC3E}">
        <p14:creationId xmlns:p14="http://schemas.microsoft.com/office/powerpoint/2010/main" val="185460281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611BF06-8B63-E6CD-1492-EFAF808E51EF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33520" y="1307028"/>
            <a:ext cx="1778772" cy="1778772"/>
          </a:xfrm>
          <a:prstGeom prst="rect">
            <a:avLst/>
          </a:pr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013F05B-9D98-0929-4F8C-BB66494050C4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2334638" y="750673"/>
            <a:ext cx="6364669" cy="2891481"/>
          </a:xfrm>
          <a:prstGeom prst="rect">
            <a:avLst/>
          </a:prstGeom>
          <a:noFill/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000" b="1">
                <a:solidFill>
                  <a:srgbClr val="000000"/>
                </a:solidFill>
              </a:rPr>
              <a:t>What is the most significant freshwater challenge facing Guyana today?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8EDF2E5-C1E1-F7A6-3274-744769F0550F}"/>
              </a:ext>
            </a:extLst>
          </p:cNvPr>
          <p:cNvSpPr/>
          <p:nvPr/>
        </p:nvSpPr>
        <p:spPr>
          <a:xfrm>
            <a:off x="0" y="4365024"/>
            <a:ext cx="9144000" cy="778476"/>
          </a:xfrm>
          <a:prstGeom prst="rect">
            <a:avLst/>
          </a:prstGeom>
          <a:solidFill>
            <a:srgbClr val="19803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55866" tIns="194619" rIns="1389666" bIns="152915" rtlCol="0" anchor="ctr">
            <a:normAutofit fontScale="70000" lnSpcReduction="200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357543C7-695C-5EEC-EC3F-B50A448C4FA0}"/>
              </a:ext>
            </a:extLst>
          </p:cNvPr>
          <p:cNvPicPr>
            <a:picLocks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</p:spPr>
      </p:pic>
      <p:sp>
        <p:nvSpPr>
          <p:cNvPr id="7" name="Trapezoid 6">
            <a:extLst>
              <a:ext uri="{FF2B5EF4-FFF2-40B4-BE49-F238E27FC236}">
                <a16:creationId xmlns:a16="http://schemas.microsoft.com/office/drawing/2014/main" id="{8BFD447A-7C38-2A7A-FC35-EA320D968144}"/>
              </a:ext>
            </a:extLst>
          </p:cNvPr>
          <p:cNvSpPr/>
          <p:nvPr/>
        </p:nvSpPr>
        <p:spPr>
          <a:xfrm rot="2700000">
            <a:off x="7215278" y="386193"/>
            <a:ext cx="2501399" cy="583660"/>
          </a:xfrm>
          <a:prstGeom prst="trapezoid">
            <a:avLst>
              <a:gd name="adj" fmla="val 100000"/>
            </a:avLst>
          </a:prstGeom>
          <a:solidFill>
            <a:srgbClr val="EDFAF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55000" lnSpcReduction="20000"/>
          </a:bodyPr>
          <a:lstStyle/>
          <a:p>
            <a:pPr algn="ctr"/>
            <a:r>
              <a:rPr lang="en-US" sz="2600" b="1">
                <a:solidFill>
                  <a:srgbClr val="198038"/>
                </a:solidFill>
              </a:rPr>
              <a:t>Do not edit
</a:t>
            </a:r>
            <a:r>
              <a:rPr lang="en-US" sz="2200">
                <a:solidFill>
                  <a:srgbClr val="198038"/>
                </a:solid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lang="en-US" sz="2200">
              <a:solidFill>
                <a:srgbClr val="198038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00E92A1D-2022-1188-5C3E-FC3BA5BB70F8}"/>
              </a:ext>
            </a:extLst>
          </p:cNvPr>
          <p:cNvPicPr>
            <a:picLocks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060062" y="4615295"/>
            <a:ext cx="833799" cy="27793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78467465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B2A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C35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27432"/>
          </a:xfrm>
          <a:prstGeom prst="rect">
            <a:avLst/>
          </a:prstGeom>
          <a:solidFill>
            <a:srgbClr val="E4A01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 Week: How Water Works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3749040"/>
          </a:xfrm>
          <a:prstGeom prst="roundRect">
            <a:avLst>
              <a:gd name="adj" fmla="val 2439"/>
            </a:avLst>
          </a:prstGeom>
          <a:solidFill>
            <a:srgbClr val="F7F9F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8229600" cy="4572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143000"/>
            <a:ext cx="7863840" cy="3383280"/>
          </a:xfrm>
          <a:prstGeom prst="rect">
            <a:avLst/>
          </a:prstGeom>
          <a:noFill/>
          <a:ln/>
        </p:spPr>
        <p:txBody>
          <a:bodyPr wrap="square" lIns="63500" tIns="127000" rIns="127000" bIns="6350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covers the foundational science:</a:t>
            </a:r>
          </a:p>
          <a:p>
            <a:pPr marL="228600" indent="-228600">
              <a:spcAft>
                <a:spcPts val="400"/>
              </a:spcAft>
              <a:buFont typeface="Arial"/>
              <a:buChar char="•"/>
            </a:pPr>
            <a:r>
              <a:rPr lang="en-US" sz="16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Hydrologic cycle and water balance equations</a:t>
            </a:r>
          </a:p>
          <a:p>
            <a:pPr marL="228600" indent="-228600">
              <a:spcAft>
                <a:spcPts val="400"/>
              </a:spcAft>
              <a:buFont typeface="Arial"/>
              <a:buChar char="•"/>
            </a:pPr>
            <a:r>
              <a:rPr lang="en-US" sz="16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watershed as the fundamental management unit</a:t>
            </a:r>
          </a:p>
          <a:p>
            <a:pPr marL="228600" indent="-228600">
              <a:spcAft>
                <a:spcPts val="400"/>
              </a:spcAft>
              <a:buFont typeface="Arial"/>
              <a:buChar char="•"/>
            </a:pPr>
            <a:r>
              <a:rPr lang="en-US" sz="16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Physical/chemical properties: H-bonding, density anomalies, thermal capacity</a:t>
            </a:r>
          </a:p>
          <a:p>
            <a:pPr marL="228600" indent="-228600">
              <a:spcAft>
                <a:spcPts val="400"/>
              </a:spcAft>
              <a:buFont typeface="Arial"/>
              <a:buChar char="•"/>
            </a:pPr>
            <a:r>
              <a:rPr lang="en-US" sz="16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parameters: pH, dissolved O₂, conductivity, alkalinity</a:t>
            </a:r>
          </a:p>
          <a:p>
            <a:pPr marL="0" indent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400" i="1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Prep: How might Guyana’s bimodal wet/dry seasons affect river discharge, groundwater recharge, and water chemistry?</a:t>
            </a:r>
          </a:p>
        </p:txBody>
      </p:sp>
      <p:sp>
        <p:nvSpPr>
          <p:cNvPr id="8" name="Text 6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82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Limnology  │  University of Guyana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5996920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81E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 of Week 1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200400" y="2606040"/>
            <a:ext cx="2743200" cy="27432"/>
          </a:xfrm>
          <a:prstGeom prst="rect">
            <a:avLst/>
          </a:prstGeom>
          <a:solidFill>
            <a:srgbClr val="E4A01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28346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7B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week: How Water Works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4764024"/>
            <a:ext cx="9144000" cy="384048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4764024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Limnology  │  University of Guyana</a:t>
            </a:r>
            <a:endParaRPr lang="en-US" sz="1000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APP_VERSION" val="1.5.0.0"/>
  <p:tag name="SLIDO_PRESENTATION_ID" val="835013a3-7916-46b3-8a80-78b1170b9574"/>
  <p:tag name="SLIDO_EVENT_UUID" val="2c652144-d172-44c6-b943-eac3ae422a40"/>
  <p:tag name="SLIDO_EVENT_SECTION_UUID" val="86776f81-6d73-48ce-9c7d-49848f16bfa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TYPE" val="SlidoJoining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Join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TYPE" val="SlidoPoll"/>
  <p:tag name="SLIDO_POLL_UUID" val="41191124-87e8-419a-aa52-6aa83441ba24"/>
  <p:tag name="SLIDO_TIMELINE" val="W3sic2hvd1Jlc3VsdHMiOnRydWUsInBvbGxRdWVzdGlvblV1aWQiOiJhMmVkZWY4Mi1iMDczLTQxNGEtODhlYy00YWNhMjg2ZGQwMDIifV0=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Rating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TYPE" val="SlidoPoll"/>
  <p:tag name="SLIDO_POLL_UUID" val="f1481e5d-b486-485c-9090-9d7d214192c5"/>
  <p:tag name="SLIDO_TIMELINE" val="W3sic2hvd1Jlc3VsdHMiOnRydWUsInBvbGxRdWVzdGlvblV1aWQiOiIwNWQyYzI0ZS03M2RkLTRkY2EtYjRlZS1lYjQwYTA4N2YyYzgifV0=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Ratin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TYPE" val="SlidoPoll"/>
  <p:tag name="SLIDO_POLL_UUID" val="62d393c8-9b59-4406-8a88-b3eded05a27f"/>
  <p:tag name="SLIDO_TIMELINE" val="W3sicG9sbFF1ZXN0aW9uVXVpZCI6ImNmMjVhZmUwLTA3NmItNDQyNS1iZWJmLTlhMTc3MjJkZWU5YSIsInNob3dSZXN1bHRzIjp0cnVlfV0=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Rating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TYPE" val="SlidoPoll"/>
  <p:tag name="SLIDO_POLL_UUID" val="88fcf471-190e-488b-9c23-f7ecb03bd57b"/>
  <p:tag name="SLIDO_TIMELINE" val="W3sic2hvd1Jlc3VsdHMiOnRydWUsInBvbGxRdWVzdGlvblV1aWQiOiJkNjUzYzhlOS1hMzY1LTRmZDgtYjE1MS05MTkzNjUzOTc4YmUifV0=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Rating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TYPE" val="SlidoPoll"/>
  <p:tag name="SLIDO_POLL_UUID" val="d733c18f-8f78-4f68-a1ab-15a13f1f9bce"/>
  <p:tag name="SLIDO_TIMELINE" val="W3sicG9sbFF1ZXN0aW9uVXVpZCI6ImMwM2ZjOTY0LTBmOTYtNGNmYS1iZDM3LTRjYjVlZWM4YjQyOCIsInNob3dSZXN1bHRzIjp0cnVlfV0=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WordCloud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TYPE" val="SlidoPoll"/>
  <p:tag name="SLIDO_POLL_UUID" val="fc43de14-c195-4665-8afd-9c57d4f9a2c8"/>
  <p:tag name="SLIDO_TIMELINE" val="W3sicG9sbFF1ZXN0aW9uVXVpZCI6ImJkOTU2N2NkLWYyMjItNDM1Ny1iNGRmLTY0MjJkZGNlYTQ5MiIsInNob3dSZXN1bHRzIjp0cnVlfV0=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WordCloud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TYPE" val="SlidoPoll"/>
  <p:tag name="SLIDO_POLL_UUID" val="dc2824d8-f626-48b6-b329-0d1630b579a3"/>
  <p:tag name="SLIDO_TIMELINE" val="W3sic2hvd1Jlc3VsdHMiOnRydWUsInBvbGxRdWVzdGlvblV1aWQiOiJjMGMyNjlmMi1iYjk5LTQ5ZWYtOTM1ZC0zZmNiYjY0MjA4MmUifV0=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Ranking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TYPE" val="SlidoPoll"/>
  <p:tag name="SLIDO_POLL_UUID" val="cd4433b7-c75a-44ac-b1c7-a5e88e1ffa1f"/>
  <p:tag name="SLIDO_TIMELINE" val="W3sicG9sbFF1ZXN0aW9uVXVpZCI6ImY2OTg2OTc3LTUyYzItNDJhYS1hZmZkLTVmM2UxMGYwNmM0MCIsInNob3dSZXN1bHRzIjp0cnVlfV0=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WordCloud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63DCE3C-E474-D14D-BF2B-D5A200849715}">
  <we:reference id="wa200010001" version="1.0.0.0" store="en-US" storeType="OMEX"/>
  <we:alternateReferences>
    <we:reference id="WA200010001" version="1.0.0.0" store="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2508</Words>
  <Application>Microsoft Macintosh PowerPoint</Application>
  <PresentationFormat>On-screen Show (16:9)</PresentationFormat>
  <Paragraphs>305</Paragraphs>
  <Slides>41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7" baseType="lpstr">
      <vt:lpstr>Arial</vt:lpstr>
      <vt:lpstr>Calibri</vt:lpstr>
      <vt:lpstr>Calibri Light</vt:lpstr>
      <vt:lpstr>Georgia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Ajay Arjoon</cp:lastModifiedBy>
  <cp:revision>3</cp:revision>
  <dcterms:created xsi:type="dcterms:W3CDTF">2026-02-21T18:31:44Z</dcterms:created>
  <dcterms:modified xsi:type="dcterms:W3CDTF">2026-02-27T00:47:19Z</dcterms:modified>
</cp:coreProperties>
</file>