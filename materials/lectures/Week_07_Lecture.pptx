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e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?>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</p:sldIdLst>
  <p:notesMasterIdLst>
    <p:notesMasterId r:id="rId3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notesMaster" Target="notesMasters/notesMaster1.xml"/><Relationship Id="rId38" Type="http://schemas.openxmlformats.org/officeDocument/2006/relationships/presProps" Target="presProps.xml"/><Relationship Id="rId39" Type="http://schemas.openxmlformats.org/officeDocument/2006/relationships/viewProps" Target="viewProps.xml"/><Relationship Id="rId40" Type="http://schemas.openxmlformats.org/officeDocument/2006/relationships/theme" Target="theme/theme1.xml"/><Relationship Id="rId41" Type="http://schemas.openxmlformats.org/officeDocument/2006/relationships/tableStyles" Target="tableStyles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image" Target="../media/image-10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image" Target="../media/image-1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image" Target="../media/image-1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image" Target="../media/image-2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?><Relationships xmlns="http://schemas.openxmlformats.org/package/2006/relationships"><Relationship Id="rId1" Type="http://schemas.openxmlformats.org/officeDocument/2006/relationships/image" Target="../media/image-2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?><Relationships xmlns="http://schemas.openxmlformats.org/package/2006/relationships"><Relationship Id="rId1" Type="http://schemas.openxmlformats.org/officeDocument/2006/relationships/image" Target="../media/image-2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?><Relationships xmlns="http://schemas.openxmlformats.org/package/2006/relationships"><Relationship Id="rId1" Type="http://schemas.openxmlformats.org/officeDocument/2006/relationships/image" Target="../media/image-2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?><Relationships xmlns="http://schemas.openxmlformats.org/package/2006/relationships"><Relationship Id="rId1" Type="http://schemas.openxmlformats.org/officeDocument/2006/relationships/image" Target="../media/image-3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_rels/slide3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1E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6751"/>
            <a:ext cx="9144000" cy="18288"/>
          </a:xfrm>
          <a:prstGeom prst="rect">
            <a:avLst/>
          </a:prstGeom>
          <a:solidFill>
            <a:srgbClr val="E4A010"/>
          </a:solidFill>
          <a:ln w="12700">
            <a:solidFill>
              <a:srgbClr val="E4A01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1280160"/>
            <a:ext cx="1417320" cy="292608"/>
          </a:xfrm>
          <a:prstGeom prst="roundRect">
            <a:avLst>
              <a:gd name="adj" fmla="val 15625"/>
            </a:avLst>
          </a:prstGeom>
          <a:solidFill>
            <a:srgbClr val="E4A010"/>
          </a:solidFill>
          <a:ln w="12700">
            <a:solidFill>
              <a:srgbClr val="E4A01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280160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0B2A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WEEKS 7–8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1691640"/>
            <a:ext cx="8046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Plankton Ecology, Bioassessment &amp; Monitoring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548640" y="3063240"/>
            <a:ext cx="8046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6B829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From phytoplankton and grazing dynamics to biotic indices, diatom archives,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6B829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and the tropical challenge for Guyanese freshwaters.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0" y="4686300"/>
            <a:ext cx="9144000" cy="384048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4686300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Limnology</a:t>
            </a:r>
            <a:r>
              <a:rPr lang="en-US" sz="1000" dirty="0">
                <a:solidFill>
                  <a:srgbClr val="E4A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  │   </a:t>
            </a: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of Guyana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81E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640080"/>
            <a:ext cx="7680960" cy="3749040"/>
          </a:xfrm>
          <a:prstGeom prst="rect">
            <a:avLst/>
          </a:prstGeom>
          <a:solidFill>
            <a:srgbClr val="F7F9FB"/>
          </a:solidFill>
          <a:ln w="12700">
            <a:solidFill>
              <a:srgbClr val="F7F9F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" y="640080"/>
            <a:ext cx="64008" cy="3749040"/>
          </a:xfrm>
          <a:prstGeom prst="rect">
            <a:avLst/>
          </a:prstGeom>
          <a:solidFill>
            <a:srgbClr val="E4A010"/>
          </a:solidFill>
          <a:ln w="12700">
            <a:solidFill>
              <a:srgbClr val="E4A01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05840" y="8686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E4A01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DISCUSSION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005840" y="1234440"/>
            <a:ext cx="713232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7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I left you last week with a question: </a:t>
            </a:r>
            <a:r>
              <a:rPr lang="en-US" sz="17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determines whether a lake is green — full of algae — or clear?</a:t>
            </a:r>
            <a:endParaRPr lang="en-US" sz="1700" dirty="0"/>
          </a:p>
          <a:p>
            <a:pPr algn="l" indent="0" marL="0">
              <a:lnSpc>
                <a:spcPct val="115000"/>
              </a:lnSpc>
              <a:spcAft>
                <a:spcPts val="1000"/>
              </a:spcAft>
              <a:buNone/>
            </a:pPr>
            <a:endParaRPr lang="en-US" sz="1700" dirty="0"/>
          </a:p>
          <a:p>
            <a:pPr algn="l" indent="0" marL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7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about what we covered in Weeks 4 and 5 — nutrients, light, temperature, mixing. But one factor gets consistently overlooked.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457200" y="4754880"/>
            <a:ext cx="8229600" cy="13716"/>
          </a:xfrm>
          <a:prstGeom prst="rect">
            <a:avLst/>
          </a:prstGeom>
          <a:solidFill>
            <a:srgbClr val="E4A010"/>
          </a:solidFill>
          <a:ln w="12700">
            <a:solidFill>
              <a:srgbClr val="E4A01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479602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8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Limnology</a:t>
            </a:r>
            <a:r>
              <a:rPr lang="en-US" sz="900" dirty="0">
                <a:solidFill>
                  <a:srgbClr val="E4A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  │   </a:t>
            </a:r>
            <a:r>
              <a:rPr lang="en-US" sz="900" dirty="0">
                <a:solidFill>
                  <a:srgbClr val="6B8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of Guyana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81E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28600"/>
            <a:ext cx="8412480" cy="502920"/>
          </a:xfrm>
          <a:prstGeom prst="rect">
            <a:avLst/>
          </a:prstGeom>
          <a:solidFill>
            <a:srgbClr val="0B2A3C"/>
          </a:solidFill>
          <a:ln w="12700">
            <a:solidFill>
              <a:srgbClr val="0B2A3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228600"/>
            <a:ext cx="73152" cy="502920"/>
          </a:xfrm>
          <a:prstGeom prst="rect">
            <a:avLst/>
          </a:prstGeom>
          <a:solidFill>
            <a:srgbClr val="E4A010"/>
          </a:solidFill>
          <a:ln w="12700">
            <a:solidFill>
              <a:srgbClr val="E4A01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228600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This Session's Roadmap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7200" y="4754880"/>
            <a:ext cx="8229600" cy="13716"/>
          </a:xfrm>
          <a:prstGeom prst="rect">
            <a:avLst/>
          </a:prstGeom>
          <a:solidFill>
            <a:srgbClr val="E4A010"/>
          </a:solidFill>
          <a:ln w="12700">
            <a:solidFill>
              <a:srgbClr val="E4A01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479602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8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Limnology</a:t>
            </a:r>
            <a:r>
              <a:rPr lang="en-US" sz="900" dirty="0">
                <a:solidFill>
                  <a:srgbClr val="E4A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  │   </a:t>
            </a:r>
            <a:r>
              <a:rPr lang="en-US" sz="900" dirty="0">
                <a:solidFill>
                  <a:srgbClr val="6B8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of Guyana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65760" y="777240"/>
            <a:ext cx="8412480" cy="3909060"/>
          </a:xfrm>
          <a:prstGeom prst="rect">
            <a:avLst/>
          </a:prstGeom>
          <a:solidFill>
            <a:srgbClr val="F7F9FB"/>
          </a:solidFill>
          <a:ln w="12700">
            <a:solidFill>
              <a:srgbClr val="F7F9F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960120"/>
            <a:ext cx="78638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▪"/>
            </a:pPr>
            <a:r>
              <a:rPr lang="en-US" sz="14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1:</a:t>
            </a:r>
            <a:r>
              <a:rPr lang="en-US" sz="14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Phytoplankton diversity and functional groups</a:t>
            </a:r>
            <a:endParaRPr lang="en-US" sz="140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▪"/>
            </a:pPr>
            <a:r>
              <a:rPr lang="en-US" sz="14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2:</a:t>
            </a:r>
            <a:r>
              <a:rPr lang="en-US" sz="14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Zooplankton ecology and </a:t>
            </a:r>
            <a:r>
              <a:rPr lang="en-US" sz="1400" i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Daphnia</a:t>
            </a:r>
            <a:endParaRPr lang="en-US" sz="140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▪"/>
            </a:pPr>
            <a:r>
              <a:rPr lang="en-US" sz="14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3:</a:t>
            </a:r>
            <a:r>
              <a:rPr lang="en-US" sz="14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Trophic cascades and the cyanobacteria–</a:t>
            </a:r>
            <a:r>
              <a:rPr lang="en-US" sz="1400" i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Daphnia</a:t>
            </a:r>
            <a:r>
              <a:rPr lang="en-US" sz="14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impasse</a:t>
            </a:r>
            <a:endParaRPr lang="en-US" sz="140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▪"/>
            </a:pPr>
            <a:r>
              <a:rPr lang="en-US" sz="14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4:</a:t>
            </a:r>
            <a:r>
              <a:rPr lang="en-US" sz="14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Why bioassess, and the reference condition approach</a:t>
            </a:r>
            <a:endParaRPr lang="en-US" sz="140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▪"/>
            </a:pPr>
            <a:r>
              <a:rPr lang="en-US" sz="14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5:</a:t>
            </a:r>
            <a:r>
              <a:rPr lang="en-US" sz="14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Macroinvertebrate bioassessment and biotic indices</a:t>
            </a:r>
            <a:endParaRPr lang="en-US" sz="140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▪"/>
            </a:pPr>
            <a:r>
              <a:rPr lang="en-US" sz="14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6:</a:t>
            </a:r>
            <a:r>
              <a:rPr lang="en-US" sz="14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Diatom-based assessment and transfer functions</a:t>
            </a:r>
            <a:endParaRPr lang="en-US" sz="140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▪"/>
            </a:pPr>
            <a:r>
              <a:rPr lang="en-US" sz="14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7:</a:t>
            </a:r>
            <a:r>
              <a:rPr lang="en-US" sz="14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Emerging tools — eDNA, remote sensing, sensors</a:t>
            </a:r>
            <a:endParaRPr lang="en-US" sz="140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▪"/>
            </a:pPr>
            <a:r>
              <a:rPr lang="en-US" sz="14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8:</a:t>
            </a:r>
            <a:r>
              <a:rPr lang="en-US" sz="14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Tropical challenge and Guyana's research opportunities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425196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6B829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Integrates more than any session so far: Week 2 DO, Week 3 macroinvertebrates, Week 4 lake physics, Week 5 nutrients, Week 6 wetland filtering.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81E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6751"/>
            <a:ext cx="9144000" cy="18288"/>
          </a:xfrm>
          <a:prstGeom prst="rect">
            <a:avLst/>
          </a:prstGeom>
          <a:solidFill>
            <a:srgbClr val="E4A010"/>
          </a:solidFill>
          <a:ln w="12700">
            <a:solidFill>
              <a:srgbClr val="E4A01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0348"/>
            <a:ext cx="9144000" cy="18288"/>
          </a:xfrm>
          <a:prstGeom prst="rect">
            <a:avLst/>
          </a:prstGeom>
          <a:solidFill>
            <a:srgbClr val="E4A010"/>
          </a:solidFill>
          <a:ln w="12700">
            <a:solidFill>
              <a:srgbClr val="E4A01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828800"/>
            <a:ext cx="8046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Part 1: Phytoplankton Diversity</a:t>
            </a:r>
            <a:endParaRPr lang="en-US" sz="3400" dirty="0"/>
          </a:p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&amp; Functional Groups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548640" y="2834640"/>
            <a:ext cx="1463040" cy="22860"/>
          </a:xfrm>
          <a:prstGeom prst="rect">
            <a:avLst/>
          </a:prstGeom>
          <a:solidFill>
            <a:srgbClr val="E4A010"/>
          </a:solidFill>
          <a:ln w="12700">
            <a:solidFill>
              <a:srgbClr val="E4A01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297180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17BEB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The invisible engine of lake ecosystems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686300"/>
            <a:ext cx="9144000" cy="384048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4686300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Limnology</a:t>
            </a:r>
            <a:r>
              <a:rPr lang="en-US" sz="1000" dirty="0">
                <a:solidFill>
                  <a:srgbClr val="E4A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  │   </a:t>
            </a: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of Guyana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81E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28600"/>
            <a:ext cx="8412480" cy="502920"/>
          </a:xfrm>
          <a:prstGeom prst="rect">
            <a:avLst/>
          </a:prstGeom>
          <a:solidFill>
            <a:srgbClr val="0B2A3C"/>
          </a:solidFill>
          <a:ln w="12700">
            <a:solidFill>
              <a:srgbClr val="0B2A3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228600"/>
            <a:ext cx="73152" cy="502920"/>
          </a:xfrm>
          <a:prstGeom prst="rect">
            <a:avLst/>
          </a:prstGeom>
          <a:solidFill>
            <a:srgbClr val="E4A010"/>
          </a:solidFill>
          <a:ln w="12700">
            <a:solidFill>
              <a:srgbClr val="E4A01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228600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Invisible Engine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7200" y="4754880"/>
            <a:ext cx="8229600" cy="13716"/>
          </a:xfrm>
          <a:prstGeom prst="rect">
            <a:avLst/>
          </a:prstGeom>
          <a:solidFill>
            <a:srgbClr val="E4A010"/>
          </a:solidFill>
          <a:ln w="12700">
            <a:solidFill>
              <a:srgbClr val="E4A01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479602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8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Limnology</a:t>
            </a:r>
            <a:r>
              <a:rPr lang="en-US" sz="900" dirty="0">
                <a:solidFill>
                  <a:srgbClr val="E4A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  │   </a:t>
            </a:r>
            <a:r>
              <a:rPr lang="en-US" sz="900" dirty="0">
                <a:solidFill>
                  <a:srgbClr val="6B8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of Guyana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65760" y="777240"/>
            <a:ext cx="8412480" cy="3909060"/>
          </a:xfrm>
          <a:prstGeom prst="rect">
            <a:avLst/>
          </a:prstGeom>
          <a:solidFill>
            <a:srgbClr val="F7F9FB"/>
          </a:solidFill>
          <a:ln w="12700">
            <a:solidFill>
              <a:srgbClr val="F7F9F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960120"/>
            <a:ext cx="786384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▪"/>
            </a:pPr>
            <a:r>
              <a:rPr lang="en-US" sz="14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Phytoplankton: microscopic photosynthetic organisms, &lt;1 µm to several hundred µm</a:t>
            </a:r>
            <a:endParaRPr lang="en-US" sz="140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▪"/>
            </a:pPr>
            <a:r>
              <a:rPr lang="en-US" sz="14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~46% of global NPP</a:t>
            </a:r>
            <a:r>
              <a:rPr lang="en-US" sz="14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— ~48.5 of 104.9 Pg C/yr (Field et al., 1998). About half of Earth's oxygen</a:t>
            </a:r>
            <a:endParaRPr lang="en-US" sz="140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▪"/>
            </a:pPr>
            <a:r>
              <a:rPr lang="en-US" sz="14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Chlorophyll-a</a:t>
            </a:r>
            <a:r>
              <a:rPr lang="en-US" sz="14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is the most widely used trophic state indicator (Carlson's TSI, Week 5)</a:t>
            </a:r>
            <a:endParaRPr lang="en-US" sz="140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▪"/>
            </a:pPr>
            <a:r>
              <a:rPr lang="en-US" sz="14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Oligotrophic &lt;2 µg/L · Mesotrophic 2–8 µg/L · Eutrophic &gt;8 µg/L</a:t>
            </a:r>
            <a:endParaRPr lang="en-US" sz="140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▪"/>
            </a:pPr>
            <a:r>
              <a:rPr lang="en-US" sz="14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Composition matters as much as biomass</a:t>
            </a:r>
            <a:r>
              <a:rPr lang="en-US" sz="14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— diatom-dominated ≠ cyanobacteria-dominated</a:t>
            </a:r>
            <a:endParaRPr lang="en-US" sz="140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▪"/>
            </a:pPr>
            <a:r>
              <a:rPr lang="en-US" sz="14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chlorophyll-a · completely different ecological state · completely different management prognosis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81E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28600"/>
            <a:ext cx="8412480" cy="502920"/>
          </a:xfrm>
          <a:prstGeom prst="rect">
            <a:avLst/>
          </a:prstGeom>
          <a:solidFill>
            <a:srgbClr val="0B2A3C"/>
          </a:solidFill>
          <a:ln w="12700">
            <a:solidFill>
              <a:srgbClr val="0B2A3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228600"/>
            <a:ext cx="73152" cy="502920"/>
          </a:xfrm>
          <a:prstGeom prst="rect">
            <a:avLst/>
          </a:prstGeom>
          <a:solidFill>
            <a:srgbClr val="E4A010"/>
          </a:solidFill>
          <a:ln w="12700">
            <a:solidFill>
              <a:srgbClr val="E4A01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228600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Major Freshwater Phytoplankton Groups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7200" y="4754880"/>
            <a:ext cx="8229600" cy="13716"/>
          </a:xfrm>
          <a:prstGeom prst="rect">
            <a:avLst/>
          </a:prstGeom>
          <a:solidFill>
            <a:srgbClr val="E4A010"/>
          </a:solidFill>
          <a:ln w="12700">
            <a:solidFill>
              <a:srgbClr val="E4A01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479602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8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Limnology</a:t>
            </a:r>
            <a:r>
              <a:rPr lang="en-US" sz="900" dirty="0">
                <a:solidFill>
                  <a:srgbClr val="E4A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  │   </a:t>
            </a:r>
            <a:r>
              <a:rPr lang="en-US" sz="900" dirty="0">
                <a:solidFill>
                  <a:srgbClr val="6B8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of Guyana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65760" y="777240"/>
            <a:ext cx="3840480" cy="3886200"/>
          </a:xfrm>
          <a:prstGeom prst="rect">
            <a:avLst/>
          </a:prstGeom>
          <a:solidFill>
            <a:srgbClr val="F7F9FB"/>
          </a:solidFill>
          <a:ln w="12700">
            <a:solidFill>
              <a:srgbClr val="F7F9F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868680"/>
            <a:ext cx="3566160" cy="370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▪"/>
            </a:pPr>
            <a:r>
              <a:rPr lang="en-US" sz="115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Cyanobacteria</a:t>
            </a:r>
            <a:r>
              <a:rPr lang="en-US" sz="115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— prokaryotes; N₂ fixation, buoyancy regulation, microcystin toxicity</a:t>
            </a:r>
            <a:endParaRPr lang="en-US" sz="115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▪"/>
            </a:pPr>
            <a:r>
              <a:rPr lang="en-US" sz="115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Chlorophytes</a:t>
            </a:r>
            <a:r>
              <a:rPr lang="en-US" sz="115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(green algae) — most diverse; excellent food quality for grazers</a:t>
            </a:r>
            <a:endParaRPr lang="en-US" sz="115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▪"/>
            </a:pPr>
            <a:r>
              <a:rPr lang="en-US" sz="115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Diatoms</a:t>
            </a:r>
            <a:r>
              <a:rPr lang="en-US" sz="115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— silica frustules; need dissolved Si; tolerance-calibrated for bioassessment</a:t>
            </a:r>
            <a:endParaRPr lang="en-US" sz="115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▪"/>
            </a:pPr>
            <a:r>
              <a:rPr lang="en-US" sz="115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Dinoflagellates</a:t>
            </a:r>
            <a:r>
              <a:rPr lang="en-US" sz="115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— mixotrophic; some migrate vertically (</a:t>
            </a:r>
            <a:r>
              <a:rPr lang="en-US" sz="1150" i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Ceratium</a:t>
            </a:r>
            <a:r>
              <a:rPr lang="en-US" sz="115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sz="115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▪"/>
            </a:pPr>
            <a:r>
              <a:rPr lang="en-US" sz="115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Cryptophytes</a:t>
            </a:r>
            <a:r>
              <a:rPr lang="en-US" sz="115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— small flagellates; highly edible first responders</a:t>
            </a:r>
            <a:endParaRPr lang="en-US" sz="115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▪"/>
            </a:pPr>
            <a:r>
              <a:rPr lang="en-US" sz="115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Cyanobacteria are terrible food</a:t>
            </a:r>
            <a:r>
              <a:rPr lang="en-US" sz="115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— toxic, clog feeding, nutritionally deficient</a:t>
            </a:r>
            <a:endParaRPr lang="en-US" sz="1150" dirty="0"/>
          </a:p>
        </p:txBody>
      </p:sp>
      <p:pic>
        <p:nvPicPr>
          <p:cNvPr id="9" name="Image 0" descr="phyto_composit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43400" y="822960"/>
            <a:ext cx="4663440" cy="374904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81E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28600"/>
            <a:ext cx="8412480" cy="502920"/>
          </a:xfrm>
          <a:prstGeom prst="rect">
            <a:avLst/>
          </a:prstGeom>
          <a:solidFill>
            <a:srgbClr val="0B2A3C"/>
          </a:solidFill>
          <a:ln w="12700">
            <a:solidFill>
              <a:srgbClr val="0B2A3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228600"/>
            <a:ext cx="73152" cy="502920"/>
          </a:xfrm>
          <a:prstGeom prst="rect">
            <a:avLst/>
          </a:prstGeom>
          <a:solidFill>
            <a:srgbClr val="E4A010"/>
          </a:solidFill>
          <a:ln w="12700">
            <a:solidFill>
              <a:srgbClr val="E4A01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228600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Reynolds' C-S-R Framework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7200" y="4754880"/>
            <a:ext cx="8229600" cy="13716"/>
          </a:xfrm>
          <a:prstGeom prst="rect">
            <a:avLst/>
          </a:prstGeom>
          <a:solidFill>
            <a:srgbClr val="E4A010"/>
          </a:solidFill>
          <a:ln w="12700">
            <a:solidFill>
              <a:srgbClr val="E4A01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479602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8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Limnology</a:t>
            </a:r>
            <a:r>
              <a:rPr lang="en-US" sz="900" dirty="0">
                <a:solidFill>
                  <a:srgbClr val="E4A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  │   </a:t>
            </a:r>
            <a:r>
              <a:rPr lang="en-US" sz="900" dirty="0">
                <a:solidFill>
                  <a:srgbClr val="6B8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of Guyana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65760" y="777240"/>
            <a:ext cx="8412480" cy="3909060"/>
          </a:xfrm>
          <a:prstGeom prst="rect">
            <a:avLst/>
          </a:prstGeom>
          <a:solidFill>
            <a:srgbClr val="F7F9FB"/>
          </a:solidFill>
          <a:ln w="12700">
            <a:solidFill>
              <a:srgbClr val="F7F9F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960120"/>
            <a:ext cx="786384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700"/>
              </a:spcAft>
              <a:buSzPct val="100000"/>
              <a:buChar char="▪"/>
            </a:pPr>
            <a:r>
              <a:rPr lang="en-US" sz="13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Adapted from Grime's plant ecology (Reynolds, 1988; 2006)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700"/>
              </a:spcAft>
              <a:buSzPct val="100000"/>
              <a:buChar char="▪"/>
            </a:pPr>
            <a:r>
              <a:rPr lang="en-US" sz="13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C-strategists</a:t>
            </a:r>
            <a:r>
              <a:rPr lang="en-US" sz="13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— competitive colonists; small cells, rapid nutrient exploitation (small green algae, cryptophytes)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700"/>
              </a:spcAft>
              <a:buSzPct val="100000"/>
              <a:buChar char="▪"/>
            </a:pPr>
            <a:r>
              <a:rPr lang="en-US" sz="13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S-strategists</a:t>
            </a:r>
            <a:r>
              <a:rPr lang="en-US" sz="13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— stress-tolerant; large, slow-growing, often motile (many cyanobacteria, large dinoflagellates)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700"/>
              </a:spcAft>
              <a:buSzPct val="100000"/>
              <a:buChar char="▪"/>
            </a:pPr>
            <a:r>
              <a:rPr lang="en-US" sz="13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R-strategists</a:t>
            </a:r>
            <a:r>
              <a:rPr lang="en-US" sz="13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— ruderal, disturbance-tolerant (filamentous diatoms like </a:t>
            </a:r>
            <a:r>
              <a:rPr lang="en-US" sz="1300" i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Aulacoseira</a:t>
            </a:r>
            <a:r>
              <a:rPr lang="en-US" sz="13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700"/>
              </a:spcAft>
              <a:buSzPct val="100000"/>
              <a:buChar char="▪"/>
            </a:pPr>
            <a:r>
              <a:rPr lang="en-US" sz="13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Predictive: stratified summer → S · spring mixing → R · nutrient pulse in turbulence → C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700"/>
              </a:spcAft>
              <a:buSzPct val="100000"/>
              <a:buChar char="▪"/>
            </a:pPr>
            <a:r>
              <a:rPr lang="en-US" sz="13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Reynolds et al. (2002) / Padisák et al. (2009): 30+ coda (H1, Y, P, SN, Lo…) — diagnostic without full chemistry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81E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28600"/>
            <a:ext cx="8412480" cy="502920"/>
          </a:xfrm>
          <a:prstGeom prst="rect">
            <a:avLst/>
          </a:prstGeom>
          <a:solidFill>
            <a:srgbClr val="0B2A3C"/>
          </a:solidFill>
          <a:ln w="12700">
            <a:solidFill>
              <a:srgbClr val="0B2A3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228600"/>
            <a:ext cx="73152" cy="502920"/>
          </a:xfrm>
          <a:prstGeom prst="rect">
            <a:avLst/>
          </a:prstGeom>
          <a:solidFill>
            <a:srgbClr val="E4A010"/>
          </a:solidFill>
          <a:ln w="12700">
            <a:solidFill>
              <a:srgbClr val="E4A01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228600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Tropical Phytoplankton — How Different?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7200" y="4754880"/>
            <a:ext cx="8229600" cy="13716"/>
          </a:xfrm>
          <a:prstGeom prst="rect">
            <a:avLst/>
          </a:prstGeom>
          <a:solidFill>
            <a:srgbClr val="E4A010"/>
          </a:solidFill>
          <a:ln w="12700">
            <a:solidFill>
              <a:srgbClr val="E4A01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479602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8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Limnology</a:t>
            </a:r>
            <a:r>
              <a:rPr lang="en-US" sz="900" dirty="0">
                <a:solidFill>
                  <a:srgbClr val="E4A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  │   </a:t>
            </a:r>
            <a:r>
              <a:rPr lang="en-US" sz="900" dirty="0">
                <a:solidFill>
                  <a:srgbClr val="6B8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of Guyana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65760" y="777240"/>
            <a:ext cx="8412480" cy="3909060"/>
          </a:xfrm>
          <a:prstGeom prst="rect">
            <a:avLst/>
          </a:prstGeom>
          <a:solidFill>
            <a:srgbClr val="F7F9FB"/>
          </a:solidFill>
          <a:ln w="12700">
            <a:solidFill>
              <a:srgbClr val="F7F9F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960120"/>
            <a:ext cx="786384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700"/>
              </a:spcAft>
              <a:buSzPct val="100000"/>
              <a:buChar char="▪"/>
            </a:pPr>
            <a:r>
              <a:rPr lang="en-US" sz="13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Reynolds functional classification validated in South American lakes (Kruk et al., 2002)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700"/>
              </a:spcAft>
              <a:buSzPct val="100000"/>
              <a:buChar char="▪"/>
            </a:pPr>
            <a:r>
              <a:rPr lang="en-US" sz="13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Tropical floodplain succession driven by flood pulse, not thermal seasonality</a:t>
            </a:r>
            <a:r>
              <a:rPr lang="en-US" sz="13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(Huszar &amp; Reynolds, 1997 — Lago Batata)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700"/>
              </a:spcAft>
              <a:buSzPct val="100000"/>
              <a:buChar char="▪"/>
            </a:pPr>
            <a:r>
              <a:rPr lang="en-US" sz="13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Year-round warm temperatures: no winter reset, continuous growth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700"/>
              </a:spcAft>
              <a:buSzPct val="100000"/>
              <a:buChar char="▪"/>
            </a:pPr>
            <a:r>
              <a:rPr lang="en-US" sz="13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 approach works better than taxonomy for tropical–temperate comparison — same traits, different species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700"/>
              </a:spcAft>
              <a:buSzPct val="100000"/>
              <a:buChar char="▪"/>
            </a:pPr>
            <a:r>
              <a:rPr lang="en-US" sz="13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Guyana predictions: blackwater → chrysophytes + small flagellates; EDWC dry season → cyanobacteria; Rupununi → flood-pulse succession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700"/>
              </a:spcAft>
              <a:buSzPct val="100000"/>
              <a:buChar char="▪"/>
            </a:pPr>
            <a:r>
              <a:rPr lang="en-US" sz="13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testable hypotheses; all unsampled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81E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6751"/>
            <a:ext cx="9144000" cy="18288"/>
          </a:xfrm>
          <a:prstGeom prst="rect">
            <a:avLst/>
          </a:prstGeom>
          <a:solidFill>
            <a:srgbClr val="E4A010"/>
          </a:solidFill>
          <a:ln w="12700">
            <a:solidFill>
              <a:srgbClr val="E4A01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0348"/>
            <a:ext cx="9144000" cy="18288"/>
          </a:xfrm>
          <a:prstGeom prst="rect">
            <a:avLst/>
          </a:prstGeom>
          <a:solidFill>
            <a:srgbClr val="E4A010"/>
          </a:solidFill>
          <a:ln w="12700">
            <a:solidFill>
              <a:srgbClr val="E4A01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828800"/>
            <a:ext cx="8046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Part 2: Zooplankton Ecology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548640" y="2834640"/>
            <a:ext cx="1463040" cy="22860"/>
          </a:xfrm>
          <a:prstGeom prst="rect">
            <a:avLst/>
          </a:prstGeom>
          <a:solidFill>
            <a:srgbClr val="E4A010"/>
          </a:solidFill>
          <a:ln w="12700">
            <a:solidFill>
              <a:srgbClr val="E4A01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297180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17BEB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The grazers that can clear a lake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686300"/>
            <a:ext cx="9144000" cy="384048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4686300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Limnology</a:t>
            </a:r>
            <a:r>
              <a:rPr lang="en-US" sz="1000" dirty="0">
                <a:solidFill>
                  <a:srgbClr val="E4A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  │   </a:t>
            </a: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of Guyana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81E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28600"/>
            <a:ext cx="8412480" cy="502920"/>
          </a:xfrm>
          <a:prstGeom prst="rect">
            <a:avLst/>
          </a:prstGeom>
          <a:solidFill>
            <a:srgbClr val="0B2A3C"/>
          </a:solidFill>
          <a:ln w="12700">
            <a:solidFill>
              <a:srgbClr val="0B2A3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228600"/>
            <a:ext cx="73152" cy="502920"/>
          </a:xfrm>
          <a:prstGeom prst="rect">
            <a:avLst/>
          </a:prstGeom>
          <a:solidFill>
            <a:srgbClr val="E4A010"/>
          </a:solidFill>
          <a:ln w="12700">
            <a:solidFill>
              <a:srgbClr val="E4A01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228600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Meet Daphnia — The Keystone Grazer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7200" y="4754880"/>
            <a:ext cx="8229600" cy="13716"/>
          </a:xfrm>
          <a:prstGeom prst="rect">
            <a:avLst/>
          </a:prstGeom>
          <a:solidFill>
            <a:srgbClr val="E4A010"/>
          </a:solidFill>
          <a:ln w="12700">
            <a:solidFill>
              <a:srgbClr val="E4A01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479602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8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Limnology</a:t>
            </a:r>
            <a:r>
              <a:rPr lang="en-US" sz="900" dirty="0">
                <a:solidFill>
                  <a:srgbClr val="E4A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  │   </a:t>
            </a:r>
            <a:r>
              <a:rPr lang="en-US" sz="900" dirty="0">
                <a:solidFill>
                  <a:srgbClr val="6B8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of Guyana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65760" y="777240"/>
            <a:ext cx="3931920" cy="3886200"/>
          </a:xfrm>
          <a:prstGeom prst="rect">
            <a:avLst/>
          </a:prstGeom>
          <a:solidFill>
            <a:srgbClr val="F7F9FB"/>
          </a:solidFill>
          <a:ln w="12700">
            <a:solidFill>
              <a:srgbClr val="F7F9F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868680"/>
            <a:ext cx="3657600" cy="370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▪"/>
            </a:pPr>
            <a:r>
              <a:rPr lang="en-US" sz="11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Filter-feeding cladoceran: pumps water through setae mesh, straining 1–50 µm particles</a:t>
            </a:r>
            <a:endParaRPr lang="en-US" sz="110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▪"/>
            </a:pPr>
            <a:r>
              <a:rPr lang="en-US" sz="11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Daphnia magna</a:t>
            </a:r>
            <a:r>
              <a:rPr lang="en-US" sz="1100" i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~77 mL/day · </a:t>
            </a:r>
            <a:r>
              <a:rPr lang="en-US" sz="11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Bosmina</a:t>
            </a:r>
            <a:r>
              <a:rPr lang="en-US" sz="1100" i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~0.3 mL/day — a </a:t>
            </a:r>
            <a:r>
              <a:rPr lang="en-US" sz="1100" i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250-fold difference</a:t>
            </a:r>
            <a:r>
              <a:rPr lang="en-US" sz="11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(Havens &amp; Beaver, 2011)</a:t>
            </a:r>
            <a:endParaRPr lang="en-US" sz="110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▪"/>
            </a:pPr>
            <a:r>
              <a:rPr lang="en-US" sz="11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Population doubling ≤3 days at ≥20°C (Ebert, 2005) — cyclical parthenogenesis</a:t>
            </a:r>
            <a:endParaRPr lang="en-US" sz="110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▪"/>
            </a:pPr>
            <a:r>
              <a:rPr lang="en-US" sz="11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Resting eggs (ephippia) survive desiccation, freezing, fish gut passage</a:t>
            </a:r>
            <a:endParaRPr lang="en-US" sz="110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▪"/>
            </a:pPr>
            <a:r>
              <a:rPr lang="en-US" sz="11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Diel vertical migration: descend by day (fish avoidance), ascend to feed at night</a:t>
            </a:r>
            <a:endParaRPr lang="en-US" sz="110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▪"/>
            </a:pPr>
            <a:r>
              <a:rPr lang="en-US" sz="1100" i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Fish predation is the dominant selective pressure in </a:t>
            </a:r>
            <a:r>
              <a:rPr lang="en-US" sz="11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Daphnia</a:t>
            </a:r>
            <a:r>
              <a:rPr lang="en-US" sz="1100" i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's life</a:t>
            </a:r>
            <a:endParaRPr lang="en-US" sz="1100" dirty="0"/>
          </a:p>
        </p:txBody>
      </p:sp>
      <p:pic>
        <p:nvPicPr>
          <p:cNvPr id="9" name="Image 0" descr="daphnia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34840" y="868680"/>
            <a:ext cx="4572000" cy="356616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81E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28600"/>
            <a:ext cx="8412480" cy="502920"/>
          </a:xfrm>
          <a:prstGeom prst="rect">
            <a:avLst/>
          </a:prstGeom>
          <a:solidFill>
            <a:srgbClr val="0B2A3C"/>
          </a:solidFill>
          <a:ln w="12700">
            <a:solidFill>
              <a:srgbClr val="0B2A3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228600"/>
            <a:ext cx="73152" cy="502920"/>
          </a:xfrm>
          <a:prstGeom prst="rect">
            <a:avLst/>
          </a:prstGeom>
          <a:solidFill>
            <a:srgbClr val="E4A010"/>
          </a:solidFill>
          <a:ln w="12700">
            <a:solidFill>
              <a:srgbClr val="E4A01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228600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Size-Efficiency Hypothesis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7200" y="4754880"/>
            <a:ext cx="8229600" cy="13716"/>
          </a:xfrm>
          <a:prstGeom prst="rect">
            <a:avLst/>
          </a:prstGeom>
          <a:solidFill>
            <a:srgbClr val="E4A010"/>
          </a:solidFill>
          <a:ln w="12700">
            <a:solidFill>
              <a:srgbClr val="E4A01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479602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8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Limnology</a:t>
            </a:r>
            <a:r>
              <a:rPr lang="en-US" sz="900" dirty="0">
                <a:solidFill>
                  <a:srgbClr val="E4A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  │   </a:t>
            </a:r>
            <a:r>
              <a:rPr lang="en-US" sz="900" dirty="0">
                <a:solidFill>
                  <a:srgbClr val="6B8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of Guyana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65760" y="777240"/>
            <a:ext cx="8412480" cy="3909060"/>
          </a:xfrm>
          <a:prstGeom prst="rect">
            <a:avLst/>
          </a:prstGeom>
          <a:solidFill>
            <a:srgbClr val="F7F9FB"/>
          </a:solidFill>
          <a:ln w="12700">
            <a:solidFill>
              <a:srgbClr val="F7F9F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960120"/>
            <a:ext cx="786384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▪"/>
            </a:pPr>
            <a:r>
              <a:rPr lang="en-US" sz="1300" i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Brooks &amp; Dodson (1965, </a:t>
            </a:r>
            <a:r>
              <a:rPr lang="en-US" sz="13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Science</a:t>
            </a:r>
            <a:r>
              <a:rPr lang="en-US" sz="1300" i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r>
              <a:rPr lang="en-US" sz="13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— one of the most cited papers in aquatic ecology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▪"/>
            </a:pPr>
            <a:r>
              <a:rPr lang="en-US" sz="13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In the </a:t>
            </a:r>
            <a:r>
              <a:rPr lang="en-US" sz="13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absence</a:t>
            </a:r>
            <a:r>
              <a:rPr lang="en-US" sz="13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of fish predation, large cladocerans outcompete small ones — bigger filters, broader particle range, persist on lower food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▪"/>
            </a:pPr>
            <a:r>
              <a:rPr lang="en-US" sz="13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Visually hunting planktivores selectively remove the largest individuals — bigger targets, more energy per capture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▪"/>
            </a:pPr>
            <a:r>
              <a:rPr lang="en-US" sz="13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When planktivores dominate: zooplankton community shifts to </a:t>
            </a:r>
            <a:r>
              <a:rPr lang="en-US" sz="1300" i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Bosmina</a:t>
            </a:r>
            <a:r>
              <a:rPr lang="en-US" sz="13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, </a:t>
            </a:r>
            <a:r>
              <a:rPr lang="en-US" sz="1300" i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Ceriodaphnia</a:t>
            </a:r>
            <a:r>
              <a:rPr lang="en-US" sz="13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small copepods — grazing capacity collapses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▪"/>
            </a:pPr>
            <a:r>
              <a:rPr lang="en-US" sz="13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lakes, identical nutrients, different clarity → the answer is in the food web above the zooplankton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81E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640080"/>
            <a:ext cx="7680960" cy="3749040"/>
          </a:xfrm>
          <a:prstGeom prst="rect">
            <a:avLst/>
          </a:prstGeom>
          <a:solidFill>
            <a:srgbClr val="F7F9FB"/>
          </a:solidFill>
          <a:ln w="12700">
            <a:solidFill>
              <a:srgbClr val="F7F9F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" y="640080"/>
            <a:ext cx="64008" cy="3749040"/>
          </a:xfrm>
          <a:prstGeom prst="rect">
            <a:avLst/>
          </a:prstGeom>
          <a:solidFill>
            <a:srgbClr val="E4A010"/>
          </a:solidFill>
          <a:ln w="12700">
            <a:solidFill>
              <a:srgbClr val="E4A01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05840" y="8686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E4A01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DISCUSSION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005840" y="1234440"/>
            <a:ext cx="713232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400" b="1" spc="200" kern="0" dirty="0">
                <a:solidFill>
                  <a:srgbClr val="E4A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THINK–PAIR–SHARE</a:t>
            </a:r>
            <a:endParaRPr lang="en-US" sz="1700" dirty="0"/>
          </a:p>
          <a:p>
            <a:pPr algn="l" indent="0" marL="0">
              <a:lnSpc>
                <a:spcPct val="115000"/>
              </a:lnSpc>
              <a:spcAft>
                <a:spcPts val="1000"/>
              </a:spcAft>
              <a:buNone/>
            </a:pPr>
            <a:endParaRPr lang="en-US" sz="1700" dirty="0"/>
          </a:p>
          <a:p>
            <a:pPr algn="l" indent="0" marL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7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lake has abundant nutrients and dense planktivorous minnows. Predict: (1) dominant zooplankton, (2) phytoplankton biomass, (3) water clarity.</a:t>
            </a:r>
            <a:endParaRPr lang="en-US" sz="1700" dirty="0"/>
          </a:p>
          <a:p>
            <a:pPr algn="l" indent="0" marL="0">
              <a:lnSpc>
                <a:spcPct val="115000"/>
              </a:lnSpc>
              <a:spcAft>
                <a:spcPts val="1000"/>
              </a:spcAft>
              <a:buNone/>
            </a:pPr>
            <a:endParaRPr lang="en-US" sz="1700" dirty="0"/>
          </a:p>
          <a:p>
            <a:pPr algn="l" indent="0" marL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7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Now: what happens if you introduce largemouth bass?</a:t>
            </a:r>
            <a:endParaRPr lang="en-US" sz="1700" dirty="0"/>
          </a:p>
          <a:p>
            <a:pPr algn="l" indent="0" marL="0">
              <a:lnSpc>
                <a:spcPct val="115000"/>
              </a:lnSpc>
              <a:spcAft>
                <a:spcPts val="1000"/>
              </a:spcAft>
              <a:buNone/>
            </a:pPr>
            <a:endParaRPr lang="en-US" sz="1700" dirty="0"/>
          </a:p>
          <a:p>
            <a:pPr algn="l" indent="0" marL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400" i="1" dirty="0">
                <a:solidFill>
                  <a:srgbClr val="6B8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Brooks–Dodson to trace the logic.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457200" y="4754880"/>
            <a:ext cx="8229600" cy="13716"/>
          </a:xfrm>
          <a:prstGeom prst="rect">
            <a:avLst/>
          </a:prstGeom>
          <a:solidFill>
            <a:srgbClr val="E4A010"/>
          </a:solidFill>
          <a:ln w="12700">
            <a:solidFill>
              <a:srgbClr val="E4A01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479602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8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Limnology</a:t>
            </a:r>
            <a:r>
              <a:rPr lang="en-US" sz="900" dirty="0">
                <a:solidFill>
                  <a:srgbClr val="E4A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  │   </a:t>
            </a:r>
            <a:r>
              <a:rPr lang="en-US" sz="900" dirty="0">
                <a:solidFill>
                  <a:srgbClr val="6B8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of Guyana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81E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6751"/>
            <a:ext cx="9144000" cy="18288"/>
          </a:xfrm>
          <a:prstGeom prst="rect">
            <a:avLst/>
          </a:prstGeom>
          <a:solidFill>
            <a:srgbClr val="E4A010"/>
          </a:solidFill>
          <a:ln w="12700">
            <a:solidFill>
              <a:srgbClr val="E4A01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0348"/>
            <a:ext cx="9144000" cy="18288"/>
          </a:xfrm>
          <a:prstGeom prst="rect">
            <a:avLst/>
          </a:prstGeom>
          <a:solidFill>
            <a:srgbClr val="E4A010"/>
          </a:solidFill>
          <a:ln w="12700">
            <a:solidFill>
              <a:srgbClr val="E4A01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828800"/>
            <a:ext cx="8046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Part 3: Trophic Cascades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548640" y="2834640"/>
            <a:ext cx="1463040" cy="22860"/>
          </a:xfrm>
          <a:prstGeom prst="rect">
            <a:avLst/>
          </a:prstGeom>
          <a:solidFill>
            <a:srgbClr val="E4A010"/>
          </a:solidFill>
          <a:ln w="12700">
            <a:solidFill>
              <a:srgbClr val="E4A01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297180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17BEB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When fish determine water clarity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686300"/>
            <a:ext cx="9144000" cy="384048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4686300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Limnology</a:t>
            </a:r>
            <a:r>
              <a:rPr lang="en-US" sz="1000" dirty="0">
                <a:solidFill>
                  <a:srgbClr val="E4A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  │   </a:t>
            </a: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of Guyana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81E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28600"/>
            <a:ext cx="8412480" cy="502920"/>
          </a:xfrm>
          <a:prstGeom prst="rect">
            <a:avLst/>
          </a:prstGeom>
          <a:solidFill>
            <a:srgbClr val="0B2A3C"/>
          </a:solidFill>
          <a:ln w="12700">
            <a:solidFill>
              <a:srgbClr val="0B2A3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228600"/>
            <a:ext cx="73152" cy="502920"/>
          </a:xfrm>
          <a:prstGeom prst="rect">
            <a:avLst/>
          </a:prstGeom>
          <a:solidFill>
            <a:srgbClr val="E4A010"/>
          </a:solidFill>
          <a:ln w="12700">
            <a:solidFill>
              <a:srgbClr val="E4A01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228600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Carpenter Cascade &amp; Biomanipulation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7200" y="4754880"/>
            <a:ext cx="8229600" cy="13716"/>
          </a:xfrm>
          <a:prstGeom prst="rect">
            <a:avLst/>
          </a:prstGeom>
          <a:solidFill>
            <a:srgbClr val="E4A010"/>
          </a:solidFill>
          <a:ln w="12700">
            <a:solidFill>
              <a:srgbClr val="E4A01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479602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8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Limnology</a:t>
            </a:r>
            <a:r>
              <a:rPr lang="en-US" sz="900" dirty="0">
                <a:solidFill>
                  <a:srgbClr val="E4A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  │   </a:t>
            </a:r>
            <a:r>
              <a:rPr lang="en-US" sz="900" dirty="0">
                <a:solidFill>
                  <a:srgbClr val="6B8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of Guyana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65760" y="777240"/>
            <a:ext cx="3566160" cy="3886200"/>
          </a:xfrm>
          <a:prstGeom prst="rect">
            <a:avLst/>
          </a:prstGeom>
          <a:solidFill>
            <a:srgbClr val="F7F9FB"/>
          </a:solidFill>
          <a:ln w="12700">
            <a:solidFill>
              <a:srgbClr val="F7F9F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868680"/>
            <a:ext cx="3337560" cy="370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500"/>
              </a:spcAft>
              <a:buSzPct val="100000"/>
              <a:buChar char="▪"/>
            </a:pPr>
            <a:r>
              <a:rPr lang="en-US" sz="105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Carpenter et al. (1985, </a:t>
            </a:r>
            <a:r>
              <a:rPr lang="en-US" sz="1050" i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BioScience</a:t>
            </a:r>
            <a:r>
              <a:rPr lang="en-US" sz="105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 introduced the concept to limnology</a:t>
            </a:r>
            <a:endParaRPr lang="en-US" sz="1050" dirty="0"/>
          </a:p>
          <a:p>
            <a:pPr marL="342900" indent="-342900">
              <a:lnSpc>
                <a:spcPct val="115000"/>
              </a:lnSpc>
              <a:spcAft>
                <a:spcPts val="500"/>
              </a:spcAft>
              <a:buSzPct val="100000"/>
              <a:buChar char="▪"/>
            </a:pPr>
            <a:r>
              <a:rPr lang="en-US" sz="105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Four-level cascade:</a:t>
            </a:r>
            <a:r>
              <a:rPr lang="en-US" sz="105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piscivores ↑ → planktivores ↓ → </a:t>
            </a:r>
            <a:r>
              <a:rPr lang="en-US" sz="1050" i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Daphnia</a:t>
            </a:r>
            <a:r>
              <a:rPr lang="en-US" sz="105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↑ → phytoplankton ↓</a:t>
            </a:r>
            <a:endParaRPr lang="en-US" sz="1050" dirty="0"/>
          </a:p>
          <a:p>
            <a:pPr marL="342900" indent="-342900">
              <a:lnSpc>
                <a:spcPct val="115000"/>
              </a:lnSpc>
              <a:spcAft>
                <a:spcPts val="500"/>
              </a:spcAft>
              <a:buSzPct val="100000"/>
              <a:buChar char="▪"/>
            </a:pPr>
            <a:r>
              <a:rPr lang="en-US" sz="105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Peter &amp; West Long Lakes: </a:t>
            </a:r>
            <a:r>
              <a:rPr lang="en-US" sz="1050" i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Daphnia</a:t>
            </a:r>
            <a:r>
              <a:rPr lang="en-US" sz="105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-dominated systems suppressed phytoplankton across nutrient gradients (Carpenter et al., 2001)</a:t>
            </a:r>
            <a:endParaRPr lang="en-US" sz="1050" dirty="0"/>
          </a:p>
          <a:p>
            <a:pPr marL="342900" indent="-342900">
              <a:lnSpc>
                <a:spcPct val="115000"/>
              </a:lnSpc>
              <a:spcAft>
                <a:spcPts val="500"/>
              </a:spcAft>
              <a:buSzPct val="100000"/>
              <a:buChar char="▪"/>
            </a:pPr>
            <a:r>
              <a:rPr lang="en-US" sz="105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Biomanipulation</a:t>
            </a:r>
            <a:r>
              <a:rPr lang="en-US" sz="105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(Shapiro 1975; Jeppesen 2012) — remove planktivores, stock piscivores</a:t>
            </a:r>
            <a:endParaRPr lang="en-US" sz="1050" dirty="0"/>
          </a:p>
          <a:p>
            <a:pPr marL="342900" indent="-342900">
              <a:lnSpc>
                <a:spcPct val="115000"/>
              </a:lnSpc>
              <a:spcAft>
                <a:spcPts val="500"/>
              </a:spcAft>
              <a:buSzPct val="100000"/>
              <a:buChar char="▪"/>
            </a:pPr>
            <a:r>
              <a:rPr lang="en-US" sz="105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Danish lakes: Secchi depth &lt;1 m → 3–4 m in one growing season; macrophytes returned</a:t>
            </a:r>
            <a:endParaRPr lang="en-US" sz="1050" dirty="0"/>
          </a:p>
          <a:p>
            <a:pPr marL="342900" indent="-342900">
              <a:lnSpc>
                <a:spcPct val="115000"/>
              </a:lnSpc>
              <a:spcAft>
                <a:spcPts val="500"/>
              </a:spcAft>
              <a:buSzPct val="100000"/>
              <a:buChar char="▪"/>
            </a:pPr>
            <a:r>
              <a:rPr lang="en-US" sz="105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Nutrient reduction = foundation; biomanipulation = accelerant. Foundation first.</a:t>
            </a:r>
            <a:endParaRPr lang="en-US" sz="1050" dirty="0"/>
          </a:p>
        </p:txBody>
      </p:sp>
      <p:pic>
        <p:nvPicPr>
          <p:cNvPr id="9" name="Image 0" descr="cascad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69080" y="822960"/>
            <a:ext cx="4983480" cy="374904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81E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28600"/>
            <a:ext cx="8412480" cy="502920"/>
          </a:xfrm>
          <a:prstGeom prst="rect">
            <a:avLst/>
          </a:prstGeom>
          <a:solidFill>
            <a:srgbClr val="0B2A3C"/>
          </a:solidFill>
          <a:ln w="12700">
            <a:solidFill>
              <a:srgbClr val="0B2A3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228600"/>
            <a:ext cx="73152" cy="502920"/>
          </a:xfrm>
          <a:prstGeom prst="rect">
            <a:avLst/>
          </a:prstGeom>
          <a:solidFill>
            <a:srgbClr val="E4A010"/>
          </a:solidFill>
          <a:ln w="12700">
            <a:solidFill>
              <a:srgbClr val="E4A01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228600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Cyanobacteria–Daphnia Impasse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7200" y="4754880"/>
            <a:ext cx="8229600" cy="13716"/>
          </a:xfrm>
          <a:prstGeom prst="rect">
            <a:avLst/>
          </a:prstGeom>
          <a:solidFill>
            <a:srgbClr val="E4A010"/>
          </a:solidFill>
          <a:ln w="12700">
            <a:solidFill>
              <a:srgbClr val="E4A01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479602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8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Limnology</a:t>
            </a:r>
            <a:r>
              <a:rPr lang="en-US" sz="900" dirty="0">
                <a:solidFill>
                  <a:srgbClr val="E4A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  │   </a:t>
            </a:r>
            <a:r>
              <a:rPr lang="en-US" sz="900" dirty="0">
                <a:solidFill>
                  <a:srgbClr val="6B8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of Guyana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65760" y="777240"/>
            <a:ext cx="4937760" cy="3886200"/>
          </a:xfrm>
          <a:prstGeom prst="rect">
            <a:avLst/>
          </a:prstGeom>
          <a:solidFill>
            <a:srgbClr val="F7F9FB"/>
          </a:solidFill>
          <a:ln w="12700">
            <a:solidFill>
              <a:srgbClr val="F7F9F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868680"/>
            <a:ext cx="4709160" cy="370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▪"/>
            </a:pPr>
            <a:r>
              <a:rPr lang="en-US" sz="11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interference</a:t>
            </a:r>
            <a:r>
              <a:rPr lang="en-US" sz="11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— filaments tangle in thoracic limbs; clearance drops 50–80%. </a:t>
            </a:r>
            <a:r>
              <a:rPr lang="en-US" sz="1100" i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Microcystis</a:t>
            </a:r>
            <a:r>
              <a:rPr lang="en-US" sz="11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colonies exceed ingestible size</a:t>
            </a:r>
            <a:endParaRPr lang="en-US" sz="110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▪"/>
            </a:pPr>
            <a:r>
              <a:rPr lang="en-US" sz="11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Toxicity</a:t>
            </a:r>
            <a:r>
              <a:rPr lang="en-US" sz="11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— microcystin inhibits protein phosphatases; chronic 1–10 µg/L depresses </a:t>
            </a:r>
            <a:r>
              <a:rPr lang="en-US" sz="1100" i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Daphnia</a:t>
            </a:r>
            <a:r>
              <a:rPr lang="en-US" sz="11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population growth</a:t>
            </a:r>
            <a:endParaRPr lang="en-US" sz="110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▪"/>
            </a:pPr>
            <a:r>
              <a:rPr lang="en-US" sz="11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Poor nutritional quality</a:t>
            </a:r>
            <a:r>
              <a:rPr lang="en-US" sz="11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— cyanobacteria lack EPA/DHA; abundant C but nutritional junk food</a:t>
            </a:r>
            <a:endParaRPr lang="en-US" sz="110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▪"/>
            </a:pPr>
            <a:r>
              <a:rPr lang="en-US" sz="11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 feedback loop</a:t>
            </a:r>
            <a:r>
              <a:rPr lang="en-US" sz="11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eutrophication → cyanobacterial dominance → grazing impaired → more cyanobacteria → locked turbid state</a:t>
            </a:r>
            <a:endParaRPr lang="en-US" sz="110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▪"/>
            </a:pPr>
            <a:r>
              <a:rPr lang="en-US" sz="11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Breaking out requires </a:t>
            </a:r>
            <a:r>
              <a:rPr lang="en-US" sz="11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nutrient reduction first</a:t>
            </a:r>
            <a:r>
              <a:rPr lang="en-US" sz="11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then food-web restoration</a:t>
            </a:r>
            <a:endParaRPr lang="en-US" sz="1100" dirty="0"/>
          </a:p>
        </p:txBody>
      </p:sp>
      <p:pic>
        <p:nvPicPr>
          <p:cNvPr id="9" name="Image 0" descr="cyano_bloom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40680" y="822960"/>
            <a:ext cx="3611880" cy="374904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81E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28600"/>
            <a:ext cx="8412480" cy="502920"/>
          </a:xfrm>
          <a:prstGeom prst="rect">
            <a:avLst/>
          </a:prstGeom>
          <a:solidFill>
            <a:srgbClr val="0B2A3C"/>
          </a:solidFill>
          <a:ln w="12700">
            <a:solidFill>
              <a:srgbClr val="0B2A3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228600"/>
            <a:ext cx="73152" cy="502920"/>
          </a:xfrm>
          <a:prstGeom prst="rect">
            <a:avLst/>
          </a:prstGeom>
          <a:solidFill>
            <a:srgbClr val="E4A010"/>
          </a:solidFill>
          <a:ln w="12700">
            <a:solidFill>
              <a:srgbClr val="E4A01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228600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Trophic Cascades Are Weaker in the Tropics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7200" y="4754880"/>
            <a:ext cx="8229600" cy="13716"/>
          </a:xfrm>
          <a:prstGeom prst="rect">
            <a:avLst/>
          </a:prstGeom>
          <a:solidFill>
            <a:srgbClr val="E4A010"/>
          </a:solidFill>
          <a:ln w="12700">
            <a:solidFill>
              <a:srgbClr val="E4A01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479602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8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Limnology</a:t>
            </a:r>
            <a:r>
              <a:rPr lang="en-US" sz="900" dirty="0">
                <a:solidFill>
                  <a:srgbClr val="E4A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  │   </a:t>
            </a:r>
            <a:r>
              <a:rPr lang="en-US" sz="900" dirty="0">
                <a:solidFill>
                  <a:srgbClr val="6B8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of Guyana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65760" y="777240"/>
            <a:ext cx="8412480" cy="3909060"/>
          </a:xfrm>
          <a:prstGeom prst="rect">
            <a:avLst/>
          </a:prstGeom>
          <a:solidFill>
            <a:srgbClr val="F7F9FB"/>
          </a:solidFill>
          <a:ln w="12700">
            <a:solidFill>
              <a:srgbClr val="F7F9F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960120"/>
            <a:ext cx="786384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▪"/>
            </a:pPr>
            <a:r>
              <a:rPr lang="en-US" sz="12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Jeppesen et al. (2012) — four reasons biomanipulation fails in warm lakes:</a:t>
            </a:r>
            <a:endParaRPr lang="en-US" sz="120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▪"/>
            </a:pPr>
            <a:r>
              <a:rPr lang="en-US" sz="12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</a:t>
            </a:r>
            <a:r>
              <a:rPr lang="en-US" sz="12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Fish reproduce year-round — no winter bottleneck; rapid recruitment recovery after removal</a:t>
            </a:r>
            <a:endParaRPr lang="en-US" sz="120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▪"/>
            </a:pPr>
            <a:r>
              <a:rPr lang="en-US" sz="12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</a:t>
            </a:r>
            <a:r>
              <a:rPr lang="en-US" sz="12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Piscivore guilds diverse but individually weak — no dominant top-down control</a:t>
            </a:r>
            <a:endParaRPr lang="en-US" sz="120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▪"/>
            </a:pPr>
            <a:r>
              <a:rPr lang="en-US" sz="12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</a:t>
            </a:r>
            <a:r>
              <a:rPr lang="en-US" sz="12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</a:t>
            </a:r>
            <a:r>
              <a:rPr lang="en-US" sz="12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Omnivory</a:t>
            </a:r>
            <a:r>
              <a:rPr lang="en-US" sz="12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— cichlids, characids, loricariids eat zooplankton </a:t>
            </a:r>
            <a:r>
              <a:rPr lang="en-US" sz="1200" i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</a:t>
            </a:r>
            <a:r>
              <a:rPr lang="en-US" sz="12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disturb sediments (release P). Worst possible combination</a:t>
            </a:r>
            <a:endParaRPr lang="en-US" sz="120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▪"/>
            </a:pPr>
            <a:r>
              <a:rPr lang="en-US" sz="12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</a:t>
            </a:r>
            <a:r>
              <a:rPr lang="en-US" sz="12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Small-bodied zooplankton dominance — </a:t>
            </a:r>
            <a:r>
              <a:rPr lang="en-US" sz="1200" i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Moina</a:t>
            </a:r>
            <a:r>
              <a:rPr lang="en-US" sz="12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, </a:t>
            </a:r>
            <a:r>
              <a:rPr lang="en-US" sz="1200" i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Ceriodaphnia</a:t>
            </a:r>
            <a:r>
              <a:rPr lang="en-US" sz="12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, </a:t>
            </a:r>
            <a:r>
              <a:rPr lang="en-US" sz="1200" i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Diaphanosoma</a:t>
            </a:r>
            <a:r>
              <a:rPr lang="en-US" sz="12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(Gillooly &amp; Dodson 2000; Meerhoff et al. 2012)</a:t>
            </a:r>
            <a:endParaRPr lang="en-US" sz="120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Subtropical mesocosms: piscivore stocking suppresses small fish but </a:t>
            </a:r>
            <a:r>
              <a:rPr lang="en-US" sz="12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not produce clear water</a:t>
            </a:r>
            <a:r>
              <a:rPr lang="en-US" sz="12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(He et al., 2022)</a:t>
            </a:r>
            <a:endParaRPr lang="en-US" sz="120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Rupununi fish communities (450+ spp.) are nothing like Wisconsin — open research frontier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81E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6751"/>
            <a:ext cx="9144000" cy="18288"/>
          </a:xfrm>
          <a:prstGeom prst="rect">
            <a:avLst/>
          </a:prstGeom>
          <a:solidFill>
            <a:srgbClr val="E4A010"/>
          </a:solidFill>
          <a:ln w="12700">
            <a:solidFill>
              <a:srgbClr val="E4A01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0348"/>
            <a:ext cx="9144000" cy="18288"/>
          </a:xfrm>
          <a:prstGeom prst="rect">
            <a:avLst/>
          </a:prstGeom>
          <a:solidFill>
            <a:srgbClr val="E4A010"/>
          </a:solidFill>
          <a:ln w="12700">
            <a:solidFill>
              <a:srgbClr val="E4A01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828800"/>
            <a:ext cx="8046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Part 4: From Plankton</a:t>
            </a:r>
            <a:endParaRPr lang="en-US" sz="3400" dirty="0"/>
          </a:p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 Bioassessment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548640" y="2834640"/>
            <a:ext cx="1463040" cy="22860"/>
          </a:xfrm>
          <a:prstGeom prst="rect">
            <a:avLst/>
          </a:prstGeom>
          <a:solidFill>
            <a:srgbClr val="E4A010"/>
          </a:solidFill>
          <a:ln w="12700">
            <a:solidFill>
              <a:srgbClr val="E4A01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297180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17BEB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Why biology tells us what chemistry alone cannot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686300"/>
            <a:ext cx="9144000" cy="384048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4686300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Limnology</a:t>
            </a:r>
            <a:r>
              <a:rPr lang="en-US" sz="1000" dirty="0">
                <a:solidFill>
                  <a:srgbClr val="E4A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  │   </a:t>
            </a: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of Guyana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81E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28600"/>
            <a:ext cx="8412480" cy="502920"/>
          </a:xfrm>
          <a:prstGeom prst="rect">
            <a:avLst/>
          </a:prstGeom>
          <a:solidFill>
            <a:srgbClr val="0B2A3C"/>
          </a:solidFill>
          <a:ln w="12700">
            <a:solidFill>
              <a:srgbClr val="0B2A3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228600"/>
            <a:ext cx="73152" cy="502920"/>
          </a:xfrm>
          <a:prstGeom prst="rect">
            <a:avLst/>
          </a:prstGeom>
          <a:solidFill>
            <a:srgbClr val="E4A010"/>
          </a:solidFill>
          <a:ln w="12700">
            <a:solidFill>
              <a:srgbClr val="E4A01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228600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Chemistry Snapshot vs. Biology Diary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7200" y="4754880"/>
            <a:ext cx="8229600" cy="13716"/>
          </a:xfrm>
          <a:prstGeom prst="rect">
            <a:avLst/>
          </a:prstGeom>
          <a:solidFill>
            <a:srgbClr val="E4A010"/>
          </a:solidFill>
          <a:ln w="12700">
            <a:solidFill>
              <a:srgbClr val="E4A01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479602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8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Limnology</a:t>
            </a:r>
            <a:r>
              <a:rPr lang="en-US" sz="900" dirty="0">
                <a:solidFill>
                  <a:srgbClr val="E4A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  │   </a:t>
            </a:r>
            <a:r>
              <a:rPr lang="en-US" sz="900" dirty="0">
                <a:solidFill>
                  <a:srgbClr val="6B8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of Guyana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65760" y="777240"/>
            <a:ext cx="8412480" cy="3909060"/>
          </a:xfrm>
          <a:prstGeom prst="rect">
            <a:avLst/>
          </a:prstGeom>
          <a:solidFill>
            <a:srgbClr val="F7F9FB"/>
          </a:solidFill>
          <a:ln w="12700">
            <a:solidFill>
              <a:srgbClr val="F7F9F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960120"/>
            <a:ext cx="786384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700"/>
              </a:spcAft>
              <a:buSzPct val="100000"/>
              <a:buChar char="▪"/>
            </a:pPr>
            <a:r>
              <a:rPr lang="en-US" sz="13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Chemical monitoring</a:t>
            </a:r>
            <a:r>
              <a:rPr lang="en-US" sz="13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= snapshot. Monthly sampling = 12 snapshots/yr; you miss 353 days of variability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700"/>
              </a:spcAft>
              <a:buSzPct val="100000"/>
              <a:buChar char="▪"/>
            </a:pPr>
            <a:r>
              <a:rPr lang="en-US" sz="13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Episodic pollution events (night discharge, rain-driven runoff, storm sewage) rarely coincide with grab samples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700"/>
              </a:spcAft>
              <a:buSzPct val="100000"/>
              <a:buChar char="▪"/>
            </a:pPr>
            <a:r>
              <a:rPr lang="en-US" sz="13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Biological monitoring</a:t>
            </a:r>
            <a:r>
              <a:rPr lang="en-US" sz="13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= diary. Benthic organisms live at the site for weeks to months and integrate the full stressor regime (Cairns &amp; Pratt, 1993)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700"/>
              </a:spcAft>
              <a:buSzPct val="100000"/>
              <a:buChar char="▪"/>
            </a:pPr>
            <a:r>
              <a:rPr lang="en-US" sz="13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Sensitive EPT absent + tolerant chironomids/oligochaetes dominant = forensic evidence of recurrent impairment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700"/>
              </a:spcAft>
              <a:buSzPct val="100000"/>
              <a:buChar char="▪"/>
            </a:pPr>
            <a:r>
              <a:rPr lang="en-US" sz="13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Chemistry identifies; biology confirms. Strongest programmes use both.</a:t>
            </a:r>
            <a:endParaRPr lang="en-US" sz="13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81E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28600"/>
            <a:ext cx="8412480" cy="502920"/>
          </a:xfrm>
          <a:prstGeom prst="rect">
            <a:avLst/>
          </a:prstGeom>
          <a:solidFill>
            <a:srgbClr val="0B2A3C"/>
          </a:solidFill>
          <a:ln w="12700">
            <a:solidFill>
              <a:srgbClr val="0B2A3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228600"/>
            <a:ext cx="73152" cy="502920"/>
          </a:xfrm>
          <a:prstGeom prst="rect">
            <a:avLst/>
          </a:prstGeom>
          <a:solidFill>
            <a:srgbClr val="E4A010"/>
          </a:solidFill>
          <a:ln w="12700">
            <a:solidFill>
              <a:srgbClr val="E4A01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228600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Three Pillars &amp; the Reference Condition Approach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7200" y="4754880"/>
            <a:ext cx="8229600" cy="13716"/>
          </a:xfrm>
          <a:prstGeom prst="rect">
            <a:avLst/>
          </a:prstGeom>
          <a:solidFill>
            <a:srgbClr val="E4A010"/>
          </a:solidFill>
          <a:ln w="12700">
            <a:solidFill>
              <a:srgbClr val="E4A01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479602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8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Limnology</a:t>
            </a:r>
            <a:r>
              <a:rPr lang="en-US" sz="900" dirty="0">
                <a:solidFill>
                  <a:srgbClr val="E4A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  │   </a:t>
            </a:r>
            <a:r>
              <a:rPr lang="en-US" sz="900" dirty="0">
                <a:solidFill>
                  <a:srgbClr val="6B8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of Guyana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65760" y="777240"/>
            <a:ext cx="8412480" cy="3909060"/>
          </a:xfrm>
          <a:prstGeom prst="rect">
            <a:avLst/>
          </a:prstGeom>
          <a:solidFill>
            <a:srgbClr val="F7F9FB"/>
          </a:solidFill>
          <a:ln w="12700">
            <a:solidFill>
              <a:srgbClr val="F7F9F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960120"/>
            <a:ext cx="786384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▪"/>
            </a:pPr>
            <a:r>
              <a:rPr lang="en-US" sz="125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pillars</a:t>
            </a:r>
            <a:r>
              <a:rPr lang="en-US" sz="125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— biological indicators · habitat assessment · physicochemical monitoring</a:t>
            </a:r>
            <a:endParaRPr lang="en-US" sz="125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▪"/>
            </a:pPr>
            <a:r>
              <a:rPr lang="en-US" sz="125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 condition approach</a:t>
            </a:r>
            <a:r>
              <a:rPr lang="en-US" sz="125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— compare observed to what would be expected without disturbance</a:t>
            </a:r>
            <a:endParaRPr lang="en-US" sz="125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▪"/>
            </a:pPr>
            <a:r>
              <a:rPr lang="en-US" sz="125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O/E ratio</a:t>
            </a:r>
            <a:r>
              <a:rPr lang="en-US" sz="125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— values near 1.0 = taxa as expected; values &lt;&lt;1.0 = taxa missing</a:t>
            </a:r>
            <a:endParaRPr lang="en-US" sz="125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▪"/>
            </a:pPr>
            <a:r>
              <a:rPr lang="en-US" sz="125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Formalised in </a:t>
            </a:r>
            <a:r>
              <a:rPr lang="en-US" sz="125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RIVPACS</a:t>
            </a:r>
            <a:r>
              <a:rPr lang="en-US" sz="125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(UK) and </a:t>
            </a:r>
            <a:r>
              <a:rPr lang="en-US" sz="125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AUSRIVAS</a:t>
            </a:r>
            <a:r>
              <a:rPr lang="en-US" sz="125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(Australia)</a:t>
            </a:r>
            <a:endParaRPr lang="en-US" sz="125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▪"/>
            </a:pPr>
            <a:r>
              <a:rPr lang="en-US" sz="125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 WFD</a:t>
            </a:r>
            <a:r>
              <a:rPr lang="en-US" sz="125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(2000): five classes — High · Good · Moderate · Poor · Bad — via Ecological Quality Ratios</a:t>
            </a:r>
            <a:endParaRPr lang="en-US" sz="125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▪"/>
            </a:pPr>
            <a:r>
              <a:rPr lang="en-US" sz="125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Guyana: no reference conditions established for any system type</a:t>
            </a:r>
            <a:r>
              <a:rPr lang="en-US" sz="125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— cannot yet quantify impairment</a:t>
            </a:r>
            <a:endParaRPr lang="en-US" sz="125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▪"/>
            </a:pPr>
            <a:r>
              <a:rPr lang="en-US" sz="125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advantage: intact headwaters are still available as potential reference sites</a:t>
            </a:r>
            <a:endParaRPr lang="en-US" sz="12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81E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6751"/>
            <a:ext cx="9144000" cy="18288"/>
          </a:xfrm>
          <a:prstGeom prst="rect">
            <a:avLst/>
          </a:prstGeom>
          <a:solidFill>
            <a:srgbClr val="E4A010"/>
          </a:solidFill>
          <a:ln w="12700">
            <a:solidFill>
              <a:srgbClr val="E4A01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0348"/>
            <a:ext cx="9144000" cy="18288"/>
          </a:xfrm>
          <a:prstGeom prst="rect">
            <a:avLst/>
          </a:prstGeom>
          <a:solidFill>
            <a:srgbClr val="E4A010"/>
          </a:solidFill>
          <a:ln w="12700">
            <a:solidFill>
              <a:srgbClr val="E4A01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828800"/>
            <a:ext cx="8046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Part 5: Macroinvertebrate</a:t>
            </a:r>
            <a:endParaRPr lang="en-US" sz="3400" dirty="0"/>
          </a:p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Bioassessment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548640" y="2834640"/>
            <a:ext cx="1463040" cy="22860"/>
          </a:xfrm>
          <a:prstGeom prst="rect">
            <a:avLst/>
          </a:prstGeom>
          <a:solidFill>
            <a:srgbClr val="E4A010"/>
          </a:solidFill>
          <a:ln w="12700">
            <a:solidFill>
              <a:srgbClr val="E4A01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297180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17BEB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The workhorses of stream assessment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686300"/>
            <a:ext cx="9144000" cy="384048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4686300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Limnology</a:t>
            </a:r>
            <a:r>
              <a:rPr lang="en-US" sz="1000" dirty="0">
                <a:solidFill>
                  <a:srgbClr val="E4A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  │   </a:t>
            </a: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of Guyana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81E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28600"/>
            <a:ext cx="8412480" cy="502920"/>
          </a:xfrm>
          <a:prstGeom prst="rect">
            <a:avLst/>
          </a:prstGeom>
          <a:solidFill>
            <a:srgbClr val="0B2A3C"/>
          </a:solidFill>
          <a:ln w="12700">
            <a:solidFill>
              <a:srgbClr val="0B2A3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228600"/>
            <a:ext cx="73152" cy="502920"/>
          </a:xfrm>
          <a:prstGeom prst="rect">
            <a:avLst/>
          </a:prstGeom>
          <a:solidFill>
            <a:srgbClr val="E4A010"/>
          </a:solidFill>
          <a:ln w="12700">
            <a:solidFill>
              <a:srgbClr val="E4A01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228600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Pollution Sensitivity Spectrum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7200" y="4754880"/>
            <a:ext cx="8229600" cy="13716"/>
          </a:xfrm>
          <a:prstGeom prst="rect">
            <a:avLst/>
          </a:prstGeom>
          <a:solidFill>
            <a:srgbClr val="E4A010"/>
          </a:solidFill>
          <a:ln w="12700">
            <a:solidFill>
              <a:srgbClr val="E4A01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479602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8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Limnology</a:t>
            </a:r>
            <a:r>
              <a:rPr lang="en-US" sz="900" dirty="0">
                <a:solidFill>
                  <a:srgbClr val="E4A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  │   </a:t>
            </a:r>
            <a:r>
              <a:rPr lang="en-US" sz="900" dirty="0">
                <a:solidFill>
                  <a:srgbClr val="6B8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of Guyana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65760" y="777240"/>
            <a:ext cx="3383280" cy="3886200"/>
          </a:xfrm>
          <a:prstGeom prst="rect">
            <a:avLst/>
          </a:prstGeom>
          <a:solidFill>
            <a:srgbClr val="F7F9FB"/>
          </a:solidFill>
          <a:ln w="12700">
            <a:solidFill>
              <a:srgbClr val="F7F9F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868680"/>
            <a:ext cx="3154680" cy="370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700"/>
              </a:spcAft>
              <a:buSzPct val="100000"/>
              <a:buChar char="▪"/>
            </a:pPr>
            <a:r>
              <a:rPr lang="en-US" sz="105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Sensitive: EPT</a:t>
            </a:r>
            <a:r>
              <a:rPr lang="en-US" sz="105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(Ephemeroptera, Plecoptera, Trichoptera) — need DO &gt;7 mg/L, delicate gills</a:t>
            </a:r>
            <a:endParaRPr lang="en-US" sz="1050" dirty="0"/>
          </a:p>
          <a:p>
            <a:pPr marL="342900" indent="-342900">
              <a:lnSpc>
                <a:spcPct val="115000"/>
              </a:lnSpc>
              <a:spcAft>
                <a:spcPts val="700"/>
              </a:spcAft>
              <a:buSzPct val="100000"/>
              <a:buChar char="▪"/>
            </a:pPr>
            <a:r>
              <a:rPr lang="en-US" sz="105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Tolerant: Chironomidae</a:t>
            </a:r>
            <a:r>
              <a:rPr lang="en-US" sz="105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— thrive in low-O₂, organic-rich conditions</a:t>
            </a:r>
            <a:endParaRPr lang="en-US" sz="1050" dirty="0"/>
          </a:p>
          <a:p>
            <a:pPr marL="342900" indent="-342900">
              <a:lnSpc>
                <a:spcPct val="115000"/>
              </a:lnSpc>
              <a:spcAft>
                <a:spcPts val="700"/>
              </a:spcAft>
              <a:buSzPct val="100000"/>
              <a:buChar char="▪"/>
            </a:pPr>
            <a:r>
              <a:rPr lang="en-US" sz="105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Tubificid oligochaetes</a:t>
            </a:r>
            <a:r>
              <a:rPr lang="en-US" sz="105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— haemoglobin binds O₂ at very low concentrations</a:t>
            </a:r>
            <a:endParaRPr lang="en-US" sz="1050" dirty="0"/>
          </a:p>
          <a:p>
            <a:pPr marL="342900" indent="-342900">
              <a:lnSpc>
                <a:spcPct val="115000"/>
              </a:lnSpc>
              <a:spcAft>
                <a:spcPts val="700"/>
              </a:spcAft>
              <a:buSzPct val="100000"/>
              <a:buChar char="▪"/>
            </a:pPr>
            <a:r>
              <a:rPr lang="en-US" sz="105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Syrphid rat-tailed maggots</a:t>
            </a:r>
            <a:r>
              <a:rPr lang="en-US" sz="105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— siphon breathes atmospheric air in anoxic water</a:t>
            </a:r>
            <a:endParaRPr lang="en-US" sz="1050" dirty="0"/>
          </a:p>
          <a:p>
            <a:pPr marL="342900" indent="-342900">
              <a:lnSpc>
                <a:spcPct val="115000"/>
              </a:lnSpc>
              <a:spcAft>
                <a:spcPts val="700"/>
              </a:spcAft>
              <a:buSzPct val="100000"/>
              <a:buChar char="▪"/>
            </a:pPr>
            <a:r>
              <a:rPr lang="en-US" sz="105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Absent sensitive + dominant tolerant = degradation inferred, even without knowing the specific stressor</a:t>
            </a:r>
            <a:endParaRPr lang="en-US" sz="1050" dirty="0"/>
          </a:p>
        </p:txBody>
      </p:sp>
      <p:pic>
        <p:nvPicPr>
          <p:cNvPr id="9" name="Image 0" descr="ept_tolerant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86200" y="822960"/>
            <a:ext cx="5166360" cy="374904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81E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28600"/>
            <a:ext cx="8412480" cy="502920"/>
          </a:xfrm>
          <a:prstGeom prst="rect">
            <a:avLst/>
          </a:prstGeom>
          <a:solidFill>
            <a:srgbClr val="0B2A3C"/>
          </a:solidFill>
          <a:ln w="12700">
            <a:solidFill>
              <a:srgbClr val="0B2A3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228600"/>
            <a:ext cx="73152" cy="502920"/>
          </a:xfrm>
          <a:prstGeom prst="rect">
            <a:avLst/>
          </a:prstGeom>
          <a:solidFill>
            <a:srgbClr val="E4A010"/>
          </a:solidFill>
          <a:ln w="12700">
            <a:solidFill>
              <a:srgbClr val="E4A01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228600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Biotic Indices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7200" y="4754880"/>
            <a:ext cx="8229600" cy="13716"/>
          </a:xfrm>
          <a:prstGeom prst="rect">
            <a:avLst/>
          </a:prstGeom>
          <a:solidFill>
            <a:srgbClr val="E4A010"/>
          </a:solidFill>
          <a:ln w="12700">
            <a:solidFill>
              <a:srgbClr val="E4A01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479602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8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Limnology</a:t>
            </a:r>
            <a:r>
              <a:rPr lang="en-US" sz="900" dirty="0">
                <a:solidFill>
                  <a:srgbClr val="E4A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  │   </a:t>
            </a:r>
            <a:r>
              <a:rPr lang="en-US" sz="900" dirty="0">
                <a:solidFill>
                  <a:srgbClr val="6B8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of Guyana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65760" y="777240"/>
            <a:ext cx="8412480" cy="3909060"/>
          </a:xfrm>
          <a:prstGeom prst="rect">
            <a:avLst/>
          </a:prstGeom>
          <a:solidFill>
            <a:srgbClr val="F7F9FB"/>
          </a:solidFill>
          <a:ln w="12700">
            <a:solidFill>
              <a:srgbClr val="F7F9F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960120"/>
            <a:ext cx="786384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700"/>
              </a:spcAft>
              <a:buSzPct val="100000"/>
              <a:buChar char="▪"/>
            </a:pPr>
            <a:r>
              <a:rPr lang="en-US" sz="125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EPT richness</a:t>
            </a:r>
            <a:r>
              <a:rPr lang="en-US" sz="125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— count of Ephemeroptera/Plecoptera/Trichoptera families. &gt;15 excellent; &lt;5 severely impaired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700"/>
              </a:spcAft>
              <a:buSzPct val="100000"/>
              <a:buChar char="▪"/>
            </a:pPr>
            <a:r>
              <a:rPr lang="en-US" sz="125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BMWP</a:t>
            </a:r>
            <a:r>
              <a:rPr lang="en-US" sz="125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(Armitage et al., 1983) — family tolerance scores 1–10, summed (e.g. Heptageniidae 10; Chironomidae 2). Effort-dependent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700"/>
              </a:spcAft>
              <a:buSzPct val="100000"/>
              <a:buChar char="▪"/>
            </a:pPr>
            <a:r>
              <a:rPr lang="en-US" sz="125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ASPT</a:t>
            </a:r>
            <a:r>
              <a:rPr lang="en-US" sz="125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— BMWP ÷ scoring families. </a:t>
            </a:r>
            <a:r>
              <a:rPr lang="en-US" sz="125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&gt;6 = Good–High · 5–6 = Moderate · &lt;4.5 = significant organic pollution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700"/>
              </a:spcAft>
              <a:buSzPct val="100000"/>
              <a:buChar char="▪"/>
            </a:pPr>
            <a:r>
              <a:rPr lang="en-US" sz="125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Hilsenhoff FBI</a:t>
            </a:r>
            <a:r>
              <a:rPr lang="en-US" sz="125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(1988) — abundance-weighted tolerance 0–10. &lt;3.75 excellent · &gt;7.26 very poor. Lower is better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700"/>
              </a:spcAft>
              <a:buSzPct val="100000"/>
              <a:buChar char="▪"/>
            </a:pPr>
            <a:r>
              <a:rPr lang="en-US" sz="125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Multimetric IBI</a:t>
            </a:r>
            <a:r>
              <a:rPr lang="en-US" sz="125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(Karr, 1981) — composite of multiple metrics; more robust to any single-metric failure</a:t>
            </a:r>
            <a:endParaRPr lang="en-US" sz="12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81E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640080"/>
            <a:ext cx="7680960" cy="3749040"/>
          </a:xfrm>
          <a:prstGeom prst="rect">
            <a:avLst/>
          </a:prstGeom>
          <a:solidFill>
            <a:srgbClr val="F7F9FB"/>
          </a:solidFill>
          <a:ln w="12700">
            <a:solidFill>
              <a:srgbClr val="F7F9F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" y="640080"/>
            <a:ext cx="64008" cy="3749040"/>
          </a:xfrm>
          <a:prstGeom prst="rect">
            <a:avLst/>
          </a:prstGeom>
          <a:solidFill>
            <a:srgbClr val="E4A010"/>
          </a:solidFill>
          <a:ln w="12700">
            <a:solidFill>
              <a:srgbClr val="E4A01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05840" y="8686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E4A01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DISCUSSION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005840" y="1234440"/>
            <a:ext cx="713232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300" b="1" spc="200" kern="0" dirty="0">
                <a:solidFill>
                  <a:srgbClr val="E4A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THINK–PAIR–SHARE: READING THE COMMUNITY</a:t>
            </a:r>
            <a:endParaRPr lang="en-US" sz="1700" dirty="0"/>
          </a:p>
          <a:p>
            <a:pPr algn="l" indent="0" marL="0">
              <a:lnSpc>
                <a:spcPct val="115000"/>
              </a:lnSpc>
              <a:spcAft>
                <a:spcPts val="1000"/>
              </a:spcAft>
              <a:buNone/>
            </a:pPr>
            <a:endParaRPr lang="en-US" sz="1700" dirty="0"/>
          </a:p>
          <a:p>
            <a:pPr algn="l" indent="0" marL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300" i="1" dirty="0">
                <a:solidFill>
                  <a:srgbClr val="6B8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river · same geology · same climate.</a:t>
            </a:r>
            <a:endParaRPr lang="en-US" sz="1700" dirty="0"/>
          </a:p>
          <a:p>
            <a:pPr algn="l" indent="0" marL="0">
              <a:lnSpc>
                <a:spcPct val="115000"/>
              </a:lnSpc>
              <a:spcAft>
                <a:spcPts val="1000"/>
              </a:spcAft>
              <a:buNone/>
            </a:pPr>
            <a:endParaRPr lang="en-US" sz="1700" dirty="0"/>
          </a:p>
          <a:p>
            <a:pPr algn="l" indent="0" marL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7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Site A: </a:t>
            </a:r>
            <a:r>
              <a:rPr lang="en-US" sz="17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 taxa total · 60% Chironomidae · only 3 EPT families</a:t>
            </a:r>
            <a:endParaRPr lang="en-US" sz="1700" dirty="0"/>
          </a:p>
          <a:p>
            <a:pPr algn="l" indent="0" marL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7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Site B: </a:t>
            </a:r>
            <a:r>
              <a:rPr lang="en-US" sz="17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taxa total · 15% Chironomidae · 8 of 12 families are EPT</a:t>
            </a:r>
            <a:endParaRPr lang="en-US" sz="1700" dirty="0"/>
          </a:p>
          <a:p>
            <a:pPr algn="l" indent="0" marL="0">
              <a:lnSpc>
                <a:spcPct val="115000"/>
              </a:lnSpc>
              <a:spcAft>
                <a:spcPts val="1000"/>
              </a:spcAft>
              <a:buNone/>
            </a:pPr>
            <a:endParaRPr lang="en-US" sz="1700" dirty="0"/>
          </a:p>
          <a:p>
            <a:pPr algn="l" indent="0" marL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7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site is in better ecological condition — and why?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457200" y="4754880"/>
            <a:ext cx="8229600" cy="13716"/>
          </a:xfrm>
          <a:prstGeom prst="rect">
            <a:avLst/>
          </a:prstGeom>
          <a:solidFill>
            <a:srgbClr val="E4A010"/>
          </a:solidFill>
          <a:ln w="12700">
            <a:solidFill>
              <a:srgbClr val="E4A01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479602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8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Limnology</a:t>
            </a:r>
            <a:r>
              <a:rPr lang="en-US" sz="900" dirty="0">
                <a:solidFill>
                  <a:srgbClr val="E4A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  │   </a:t>
            </a:r>
            <a:r>
              <a:rPr lang="en-US" sz="900" dirty="0">
                <a:solidFill>
                  <a:srgbClr val="6B8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of Guyana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81E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6751"/>
            <a:ext cx="9144000" cy="18288"/>
          </a:xfrm>
          <a:prstGeom prst="rect">
            <a:avLst/>
          </a:prstGeom>
          <a:solidFill>
            <a:srgbClr val="E4A010"/>
          </a:solidFill>
          <a:ln w="12700">
            <a:solidFill>
              <a:srgbClr val="E4A01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0348"/>
            <a:ext cx="9144000" cy="18288"/>
          </a:xfrm>
          <a:prstGeom prst="rect">
            <a:avLst/>
          </a:prstGeom>
          <a:solidFill>
            <a:srgbClr val="E4A010"/>
          </a:solidFill>
          <a:ln w="12700">
            <a:solidFill>
              <a:srgbClr val="E4A01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828800"/>
            <a:ext cx="8046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Part 6: Diatom-Based</a:t>
            </a:r>
            <a:endParaRPr lang="en-US" sz="3400" dirty="0"/>
          </a:p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Assessment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548640" y="2834640"/>
            <a:ext cx="1463040" cy="22860"/>
          </a:xfrm>
          <a:prstGeom prst="rect">
            <a:avLst/>
          </a:prstGeom>
          <a:solidFill>
            <a:srgbClr val="E4A010"/>
          </a:solidFill>
          <a:ln w="12700">
            <a:solidFill>
              <a:srgbClr val="E4A01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297180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17BEB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Nature's water quality archive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686300"/>
            <a:ext cx="9144000" cy="384048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4686300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Limnology</a:t>
            </a:r>
            <a:r>
              <a:rPr lang="en-US" sz="1000" dirty="0">
                <a:solidFill>
                  <a:srgbClr val="E4A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  │   </a:t>
            </a: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of Guyana</a:t>
            </a:r>
            <a:endParaRPr lang="en-US" sz="1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81E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28600"/>
            <a:ext cx="8412480" cy="502920"/>
          </a:xfrm>
          <a:prstGeom prst="rect">
            <a:avLst/>
          </a:prstGeom>
          <a:solidFill>
            <a:srgbClr val="0B2A3C"/>
          </a:solidFill>
          <a:ln w="12700">
            <a:solidFill>
              <a:srgbClr val="0B2A3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228600"/>
            <a:ext cx="73152" cy="502920"/>
          </a:xfrm>
          <a:prstGeom prst="rect">
            <a:avLst/>
          </a:prstGeom>
          <a:solidFill>
            <a:srgbClr val="E4A010"/>
          </a:solidFill>
          <a:ln w="12700">
            <a:solidFill>
              <a:srgbClr val="E4A01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228600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Diatoms Are Unique Bioindicators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7200" y="4754880"/>
            <a:ext cx="8229600" cy="13716"/>
          </a:xfrm>
          <a:prstGeom prst="rect">
            <a:avLst/>
          </a:prstGeom>
          <a:solidFill>
            <a:srgbClr val="E4A010"/>
          </a:solidFill>
          <a:ln w="12700">
            <a:solidFill>
              <a:srgbClr val="E4A01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479602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8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Limnology</a:t>
            </a:r>
            <a:r>
              <a:rPr lang="en-US" sz="900" dirty="0">
                <a:solidFill>
                  <a:srgbClr val="E4A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  │   </a:t>
            </a:r>
            <a:r>
              <a:rPr lang="en-US" sz="900" dirty="0">
                <a:solidFill>
                  <a:srgbClr val="6B8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of Guyana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65760" y="777240"/>
            <a:ext cx="4663440" cy="3886200"/>
          </a:xfrm>
          <a:prstGeom prst="rect">
            <a:avLst/>
          </a:prstGeom>
          <a:solidFill>
            <a:srgbClr val="F7F9FB"/>
          </a:solidFill>
          <a:ln w="12700">
            <a:solidFill>
              <a:srgbClr val="F7F9F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868680"/>
            <a:ext cx="4434840" cy="370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▪"/>
            </a:pPr>
            <a:r>
              <a:rPr lang="en-US" sz="105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Siliceous frustules preserve in sediments for millennia</a:t>
            </a:r>
            <a:r>
              <a:rPr lang="en-US" sz="105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— glass, essentially</a:t>
            </a:r>
            <a:endParaRPr lang="en-US" sz="105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▪"/>
            </a:pPr>
            <a:r>
              <a:rPr lang="en-US" sz="105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Species-specific environmental tolerances (pH, TP, salinity)</a:t>
            </a:r>
            <a:endParaRPr lang="en-US" sz="105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▪"/>
            </a:pPr>
            <a:r>
              <a:rPr lang="en-US" sz="105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Rapid turnover, ubiquity, enormous diversity (100–200 spp./sample), standardised methods</a:t>
            </a:r>
            <a:endParaRPr lang="en-US" sz="105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▪"/>
            </a:pPr>
            <a:r>
              <a:rPr lang="en-US" sz="105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Dual-use capability</a:t>
            </a:r>
            <a:r>
              <a:rPr lang="en-US" sz="105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— living assemblages = current conditions; fossil assemblages = centuries of history</a:t>
            </a:r>
            <a:endParaRPr lang="en-US" sz="105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▪"/>
            </a:pPr>
            <a:r>
              <a:rPr lang="en-US" sz="105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Example: </a:t>
            </a:r>
            <a:r>
              <a:rPr lang="en-US" sz="1050" i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Achnanthidium minutissimum</a:t>
            </a:r>
            <a:r>
              <a:rPr lang="en-US" sz="105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= low-nutrient, well-oxygenated; </a:t>
            </a:r>
            <a:r>
              <a:rPr lang="en-US" sz="1050" i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Nitzschia palea</a:t>
            </a:r>
            <a:r>
              <a:rPr lang="en-US" sz="105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+ </a:t>
            </a:r>
            <a:r>
              <a:rPr lang="en-US" sz="1050" i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Gomphonema parvulum</a:t>
            </a:r>
            <a:r>
              <a:rPr lang="en-US" sz="105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= organic enrichment</a:t>
            </a:r>
            <a:endParaRPr lang="en-US" sz="105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▪"/>
            </a:pPr>
            <a:r>
              <a:rPr lang="en-US" sz="105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prep: acid-clean, mount, identify 300–400 valves at 1000× oil immersion</a:t>
            </a:r>
            <a:endParaRPr lang="en-US" sz="1050" dirty="0"/>
          </a:p>
        </p:txBody>
      </p:sp>
      <p:pic>
        <p:nvPicPr>
          <p:cNvPr id="9" name="Image 0" descr="diatom_micrograph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66360" y="822960"/>
            <a:ext cx="3886200" cy="374904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81E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28600"/>
            <a:ext cx="8412480" cy="502920"/>
          </a:xfrm>
          <a:prstGeom prst="rect">
            <a:avLst/>
          </a:prstGeom>
          <a:solidFill>
            <a:srgbClr val="0B2A3C"/>
          </a:solidFill>
          <a:ln w="12700">
            <a:solidFill>
              <a:srgbClr val="0B2A3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228600"/>
            <a:ext cx="73152" cy="502920"/>
          </a:xfrm>
          <a:prstGeom prst="rect">
            <a:avLst/>
          </a:prstGeom>
          <a:solidFill>
            <a:srgbClr val="E4A010"/>
          </a:solidFill>
          <a:ln w="12700">
            <a:solidFill>
              <a:srgbClr val="E4A01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228600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Diatom Transfer Functions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7200" y="4754880"/>
            <a:ext cx="8229600" cy="13716"/>
          </a:xfrm>
          <a:prstGeom prst="rect">
            <a:avLst/>
          </a:prstGeom>
          <a:solidFill>
            <a:srgbClr val="E4A010"/>
          </a:solidFill>
          <a:ln w="12700">
            <a:solidFill>
              <a:srgbClr val="E4A01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479602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8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Limnology</a:t>
            </a:r>
            <a:r>
              <a:rPr lang="en-US" sz="900" dirty="0">
                <a:solidFill>
                  <a:srgbClr val="E4A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  │   </a:t>
            </a:r>
            <a:r>
              <a:rPr lang="en-US" sz="900" dirty="0">
                <a:solidFill>
                  <a:srgbClr val="6B8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of Guyana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65760" y="777240"/>
            <a:ext cx="4206240" cy="3886200"/>
          </a:xfrm>
          <a:prstGeom prst="rect">
            <a:avLst/>
          </a:prstGeom>
          <a:solidFill>
            <a:srgbClr val="F7F9FB"/>
          </a:solidFill>
          <a:ln w="12700">
            <a:solidFill>
              <a:srgbClr val="F7F9F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868680"/>
            <a:ext cx="3977640" cy="370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500"/>
              </a:spcAft>
              <a:buSzPct val="100000"/>
              <a:buChar char="▪"/>
            </a:pPr>
            <a:r>
              <a:rPr lang="en-US" sz="10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Relate modern diatom assemblages to measured environmental variables; then infer </a:t>
            </a:r>
            <a:r>
              <a:rPr lang="en-US" sz="10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</a:t>
            </a:r>
            <a:r>
              <a:rPr lang="en-US" sz="10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conditions from fossil assemblages in cores (Birks et al., 1990)</a:t>
            </a:r>
            <a:endParaRPr lang="en-US" sz="1000" dirty="0"/>
          </a:p>
          <a:p>
            <a:pPr marL="342900" indent="-342900">
              <a:lnSpc>
                <a:spcPct val="115000"/>
              </a:lnSpc>
              <a:spcAft>
                <a:spcPts val="500"/>
              </a:spcAft>
              <a:buSzPct val="100000"/>
              <a:buChar char="▪"/>
            </a:pPr>
            <a:r>
              <a:rPr lang="en-US" sz="10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Build </a:t>
            </a:r>
            <a:r>
              <a:rPr lang="en-US" sz="10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set</a:t>
            </a:r>
            <a:r>
              <a:rPr lang="en-US" sz="10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50–150 lakes with paired diatom + chemistry data · fit weighted-averaging regression</a:t>
            </a:r>
            <a:endParaRPr lang="en-US" sz="1000" dirty="0"/>
          </a:p>
          <a:p>
            <a:pPr marL="342900" indent="-342900">
              <a:lnSpc>
                <a:spcPct val="115000"/>
              </a:lnSpc>
              <a:spcAft>
                <a:spcPts val="500"/>
              </a:spcAft>
              <a:buSzPct val="100000"/>
              <a:buChar char="▪"/>
            </a:pPr>
            <a:r>
              <a:rPr lang="en-US" sz="10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the model to fossil diatoms from a sediment core → reconstruct past TP, pH, salinity</a:t>
            </a:r>
            <a:endParaRPr lang="en-US" sz="1000" dirty="0"/>
          </a:p>
          <a:p>
            <a:pPr marL="342900" indent="-342900">
              <a:lnSpc>
                <a:spcPct val="115000"/>
              </a:lnSpc>
              <a:spcAft>
                <a:spcPts val="500"/>
              </a:spcAft>
              <a:buSzPct val="100000"/>
              <a:buChar char="▪"/>
            </a:pPr>
            <a:r>
              <a:rPr lang="en-US" sz="10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Bennion et al. (1996): 152-lake NW Europe set; </a:t>
            </a:r>
            <a:r>
              <a:rPr lang="en-US" sz="10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WA-PLS RMSEP = 0.21 log₁₀ TP</a:t>
            </a:r>
            <a:r>
              <a:rPr lang="en-US" sz="10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; range 10–1000 µg/L</a:t>
            </a:r>
            <a:endParaRPr lang="en-US" sz="1000" dirty="0"/>
          </a:p>
          <a:p>
            <a:pPr marL="342900" indent="-342900">
              <a:lnSpc>
                <a:spcPct val="115000"/>
              </a:lnSpc>
              <a:spcAft>
                <a:spcPts val="500"/>
              </a:spcAft>
              <a:buSzPct val="100000"/>
              <a:buChar char="▪"/>
            </a:pPr>
            <a:r>
              <a:rPr lang="en-US" sz="10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Cardoso-Silva et al. (2025) — works in tropical reservoirs · </a:t>
            </a:r>
            <a:r>
              <a:rPr lang="en-US" sz="10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calibration must be regional</a:t>
            </a:r>
            <a:endParaRPr lang="en-US" sz="1000" dirty="0"/>
          </a:p>
          <a:p>
            <a:pPr marL="342900" indent="-342900">
              <a:lnSpc>
                <a:spcPct val="115000"/>
              </a:lnSpc>
              <a:spcAft>
                <a:spcPts val="500"/>
              </a:spcAft>
              <a:buSzPct val="100000"/>
              <a:buChar char="▪"/>
            </a:pPr>
            <a:r>
              <a:rPr lang="en-US" sz="10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diatom training set exists for the Guiana Shield</a:t>
            </a:r>
            <a:r>
              <a:rPr lang="en-US" sz="10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— PhD-scale opportunity</a:t>
            </a:r>
            <a:endParaRPr lang="en-US" sz="1000" dirty="0"/>
          </a:p>
        </p:txBody>
      </p:sp>
      <p:pic>
        <p:nvPicPr>
          <p:cNvPr id="9" name="Image 0" descr="diatom_cor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09160" y="914400"/>
            <a:ext cx="4343400" cy="356616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4709160" y="4434840"/>
            <a:ext cx="4343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B829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Fossil diatom stratigraphy in a sediment core (illustrative)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81E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6751"/>
            <a:ext cx="9144000" cy="18288"/>
          </a:xfrm>
          <a:prstGeom prst="rect">
            <a:avLst/>
          </a:prstGeom>
          <a:solidFill>
            <a:srgbClr val="E4A010"/>
          </a:solidFill>
          <a:ln w="12700">
            <a:solidFill>
              <a:srgbClr val="E4A01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0348"/>
            <a:ext cx="9144000" cy="18288"/>
          </a:xfrm>
          <a:prstGeom prst="rect">
            <a:avLst/>
          </a:prstGeom>
          <a:solidFill>
            <a:srgbClr val="E4A010"/>
          </a:solidFill>
          <a:ln w="12700">
            <a:solidFill>
              <a:srgbClr val="E4A01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828800"/>
            <a:ext cx="8046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Part 7: Emerging Tools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548640" y="2834640"/>
            <a:ext cx="1463040" cy="22860"/>
          </a:xfrm>
          <a:prstGeom prst="rect">
            <a:avLst/>
          </a:prstGeom>
          <a:solidFill>
            <a:srgbClr val="E4A010"/>
          </a:solidFill>
          <a:ln w="12700">
            <a:solidFill>
              <a:srgbClr val="E4A01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297180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17BEB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eDNA · remote sensing · high-frequency sensors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686300"/>
            <a:ext cx="9144000" cy="384048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4686300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Limnology</a:t>
            </a:r>
            <a:r>
              <a:rPr lang="en-US" sz="1000" dirty="0">
                <a:solidFill>
                  <a:srgbClr val="E4A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  │   </a:t>
            </a: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of Guyana</a:t>
            </a:r>
            <a:endParaRPr lang="en-US" sz="10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81E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28600"/>
            <a:ext cx="8412480" cy="502920"/>
          </a:xfrm>
          <a:prstGeom prst="rect">
            <a:avLst/>
          </a:prstGeom>
          <a:solidFill>
            <a:srgbClr val="0B2A3C"/>
          </a:solidFill>
          <a:ln w="12700">
            <a:solidFill>
              <a:srgbClr val="0B2A3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228600"/>
            <a:ext cx="73152" cy="502920"/>
          </a:xfrm>
          <a:prstGeom prst="rect">
            <a:avLst/>
          </a:prstGeom>
          <a:solidFill>
            <a:srgbClr val="E4A010"/>
          </a:solidFill>
          <a:ln w="12700">
            <a:solidFill>
              <a:srgbClr val="E4A01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228600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Environmental DNA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7200" y="4754880"/>
            <a:ext cx="8229600" cy="13716"/>
          </a:xfrm>
          <a:prstGeom prst="rect">
            <a:avLst/>
          </a:prstGeom>
          <a:solidFill>
            <a:srgbClr val="E4A010"/>
          </a:solidFill>
          <a:ln w="12700">
            <a:solidFill>
              <a:srgbClr val="E4A01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479602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8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Limnology</a:t>
            </a:r>
            <a:r>
              <a:rPr lang="en-US" sz="900" dirty="0">
                <a:solidFill>
                  <a:srgbClr val="E4A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  │   </a:t>
            </a:r>
            <a:r>
              <a:rPr lang="en-US" sz="900" dirty="0">
                <a:solidFill>
                  <a:srgbClr val="6B8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of Guyana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65760" y="777240"/>
            <a:ext cx="4572000" cy="3886200"/>
          </a:xfrm>
          <a:prstGeom prst="rect">
            <a:avLst/>
          </a:prstGeom>
          <a:solidFill>
            <a:srgbClr val="F7F9FB"/>
          </a:solidFill>
          <a:ln w="12700">
            <a:solidFill>
              <a:srgbClr val="F7F9F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868680"/>
            <a:ext cx="4343400" cy="370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▪"/>
            </a:pPr>
            <a:r>
              <a:rPr lang="en-US" sz="105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DNA shed by organisms — filter, extract, PCR, sequence, match to reference database</a:t>
            </a:r>
            <a:endParaRPr lang="en-US" sz="105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▪"/>
            </a:pPr>
            <a:r>
              <a:rPr lang="en-US" sz="105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Species-specific</a:t>
            </a:r>
            <a:r>
              <a:rPr lang="en-US" sz="105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(targeted primers) vs </a:t>
            </a:r>
            <a:r>
              <a:rPr lang="en-US" sz="105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metabarcoding</a:t>
            </a:r>
            <a:r>
              <a:rPr lang="en-US" sz="105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(universal primers, full community)</a:t>
            </a:r>
            <a:endParaRPr lang="en-US" sz="105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▪"/>
            </a:pPr>
            <a:r>
              <a:rPr lang="en-US" sz="105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French Guiana: eDNA at 39 sites detected 132 fish species from ~17M reads — complementary to traditional methods (Cilleros et al., 2019)</a:t>
            </a:r>
            <a:endParaRPr lang="en-US" sz="105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▪"/>
            </a:pPr>
            <a:r>
              <a:rPr lang="en-US" sz="105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Effort matters: ~34 L → 64% of expected fauna; ~170 L → ~80% (Cantera et al., 2019)</a:t>
            </a:r>
            <a:endParaRPr lang="en-US" sz="105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▪"/>
            </a:pPr>
            <a:r>
              <a:rPr lang="en-US" sz="105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</a:t>
            </a:r>
            <a:r>
              <a:rPr lang="en-US" sz="105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presence/absence only · rapid degradation in warm/UV water · incomplete tropical reference DBs · downstream transport false positives</a:t>
            </a:r>
            <a:endParaRPr lang="en-US" sz="1050" dirty="0"/>
          </a:p>
        </p:txBody>
      </p:sp>
      <p:pic>
        <p:nvPicPr>
          <p:cNvPr id="9" name="Image 0" descr="edna_workflow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74920" y="804672"/>
            <a:ext cx="3977640" cy="3767328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081E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28600"/>
            <a:ext cx="8412480" cy="502920"/>
          </a:xfrm>
          <a:prstGeom prst="rect">
            <a:avLst/>
          </a:prstGeom>
          <a:solidFill>
            <a:srgbClr val="0B2A3C"/>
          </a:solidFill>
          <a:ln w="12700">
            <a:solidFill>
              <a:srgbClr val="0B2A3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228600"/>
            <a:ext cx="73152" cy="502920"/>
          </a:xfrm>
          <a:prstGeom prst="rect">
            <a:avLst/>
          </a:prstGeom>
          <a:solidFill>
            <a:srgbClr val="E4A010"/>
          </a:solidFill>
          <a:ln w="12700">
            <a:solidFill>
              <a:srgbClr val="E4A01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228600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Remote Sensing &amp; Continuous Sensors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7200" y="4754880"/>
            <a:ext cx="8229600" cy="13716"/>
          </a:xfrm>
          <a:prstGeom prst="rect">
            <a:avLst/>
          </a:prstGeom>
          <a:solidFill>
            <a:srgbClr val="E4A010"/>
          </a:solidFill>
          <a:ln w="12700">
            <a:solidFill>
              <a:srgbClr val="E4A01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479602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8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Limnology</a:t>
            </a:r>
            <a:r>
              <a:rPr lang="en-US" sz="900" dirty="0">
                <a:solidFill>
                  <a:srgbClr val="E4A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  │   </a:t>
            </a:r>
            <a:r>
              <a:rPr lang="en-US" sz="900" dirty="0">
                <a:solidFill>
                  <a:srgbClr val="6B8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of Guyana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65760" y="777240"/>
            <a:ext cx="8412480" cy="3909060"/>
          </a:xfrm>
          <a:prstGeom prst="rect">
            <a:avLst/>
          </a:prstGeom>
          <a:solidFill>
            <a:srgbClr val="F7F9FB"/>
          </a:solidFill>
          <a:ln w="12700">
            <a:solidFill>
              <a:srgbClr val="F7F9F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960120"/>
            <a:ext cx="786384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700"/>
              </a:spcAft>
              <a:buSzPct val="100000"/>
              <a:buChar char="▪"/>
            </a:pPr>
            <a:r>
              <a:rPr lang="en-US" sz="125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Sentinel-2</a:t>
            </a:r>
            <a:r>
              <a:rPr lang="en-US" sz="125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(ESA): 10-m resolution, 5-day revisit, </a:t>
            </a:r>
            <a:r>
              <a:rPr lang="en-US" sz="125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data</a:t>
            </a:r>
            <a:r>
              <a:rPr lang="en-US" sz="125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free Google Earth Engine processing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700"/>
              </a:spcAft>
              <a:buSzPct val="100000"/>
              <a:buChar char="▪"/>
            </a:pPr>
            <a:r>
              <a:rPr lang="en-US" sz="125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Mining turbidity mapping in the Mazaruni/Potaro needs </a:t>
            </a:r>
            <a:r>
              <a:rPr lang="en-US" sz="125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fieldwork</a:t>
            </a:r>
            <a:r>
              <a:rPr lang="en-US" sz="125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— any student could start this week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700"/>
              </a:spcAft>
              <a:buSzPct val="100000"/>
              <a:buChar char="▪"/>
            </a:pPr>
            <a:r>
              <a:rPr lang="en-US" sz="125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multiparameter sondes</a:t>
            </a:r>
            <a:r>
              <a:rPr lang="en-US" sz="125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(15–60 min logging) → 35,000+ points/parameter/year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700"/>
              </a:spcAft>
              <a:buSzPct val="100000"/>
              <a:buChar char="▪"/>
            </a:pPr>
            <a:r>
              <a:rPr lang="en-US" sz="125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High-frequency DO enables whole-system metabolism (GPP, ER) — impossible from grab sampling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700"/>
              </a:spcAft>
              <a:buSzPct val="100000"/>
              <a:buChar char="▪"/>
            </a:pPr>
            <a:r>
              <a:rPr lang="en-US" sz="125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Guyana, one logger at EDWC or a mainstem Essequibo station would begin the temporal baseline that does not yet exist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700"/>
              </a:spcAft>
              <a:buSzPct val="100000"/>
              <a:buChar char="▪"/>
            </a:pPr>
            <a:r>
              <a:rPr lang="en-US" sz="125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Emerging tools complement — they do not replace — traditional biology + chemistry</a:t>
            </a:r>
            <a:endParaRPr lang="en-US" sz="12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081E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6751"/>
            <a:ext cx="9144000" cy="18288"/>
          </a:xfrm>
          <a:prstGeom prst="rect">
            <a:avLst/>
          </a:prstGeom>
          <a:solidFill>
            <a:srgbClr val="E4A010"/>
          </a:solidFill>
          <a:ln w="12700">
            <a:solidFill>
              <a:srgbClr val="E4A01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0348"/>
            <a:ext cx="9144000" cy="18288"/>
          </a:xfrm>
          <a:prstGeom prst="rect">
            <a:avLst/>
          </a:prstGeom>
          <a:solidFill>
            <a:srgbClr val="E4A010"/>
          </a:solidFill>
          <a:ln w="12700">
            <a:solidFill>
              <a:srgbClr val="E4A01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828800"/>
            <a:ext cx="8046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Part 8: The Tropical Challenge</a:t>
            </a:r>
            <a:endParaRPr lang="en-US" sz="3400" dirty="0"/>
          </a:p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&amp; Guyana's Opportunity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548640" y="2834640"/>
            <a:ext cx="1463040" cy="22860"/>
          </a:xfrm>
          <a:prstGeom prst="rect">
            <a:avLst/>
          </a:prstGeom>
          <a:solidFill>
            <a:srgbClr val="E4A010"/>
          </a:solidFill>
          <a:ln w="12700">
            <a:solidFill>
              <a:srgbClr val="E4A01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297180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17BEB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Terra incognita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686300"/>
            <a:ext cx="9144000" cy="384048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4686300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Limnology</a:t>
            </a:r>
            <a:r>
              <a:rPr lang="en-US" sz="1000" dirty="0">
                <a:solidFill>
                  <a:srgbClr val="E4A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  │   </a:t>
            </a: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of Guyana</a:t>
            </a:r>
            <a:endParaRPr lang="en-US" sz="10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081E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28600"/>
            <a:ext cx="8412480" cy="502920"/>
          </a:xfrm>
          <a:prstGeom prst="rect">
            <a:avLst/>
          </a:prstGeom>
          <a:solidFill>
            <a:srgbClr val="0B2A3C"/>
          </a:solidFill>
          <a:ln w="12700">
            <a:solidFill>
              <a:srgbClr val="0B2A3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228600"/>
            <a:ext cx="73152" cy="502920"/>
          </a:xfrm>
          <a:prstGeom prst="rect">
            <a:avLst/>
          </a:prstGeom>
          <a:solidFill>
            <a:srgbClr val="E4A010"/>
          </a:solidFill>
          <a:ln w="12700">
            <a:solidFill>
              <a:srgbClr val="E4A01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228600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Temperate Methods Don't Fully Transfer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7200" y="4754880"/>
            <a:ext cx="8229600" cy="13716"/>
          </a:xfrm>
          <a:prstGeom prst="rect">
            <a:avLst/>
          </a:prstGeom>
          <a:solidFill>
            <a:srgbClr val="E4A010"/>
          </a:solidFill>
          <a:ln w="12700">
            <a:solidFill>
              <a:srgbClr val="E4A01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479602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8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Limnology</a:t>
            </a:r>
            <a:r>
              <a:rPr lang="en-US" sz="900" dirty="0">
                <a:solidFill>
                  <a:srgbClr val="E4A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  │   </a:t>
            </a:r>
            <a:r>
              <a:rPr lang="en-US" sz="900" dirty="0">
                <a:solidFill>
                  <a:srgbClr val="6B8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of Guyana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65760" y="777240"/>
            <a:ext cx="8412480" cy="3909060"/>
          </a:xfrm>
          <a:prstGeom prst="rect">
            <a:avLst/>
          </a:prstGeom>
          <a:solidFill>
            <a:srgbClr val="F7F9FB"/>
          </a:solidFill>
          <a:ln w="12700">
            <a:solidFill>
              <a:srgbClr val="F7F9F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960120"/>
            <a:ext cx="786384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700"/>
              </a:spcAft>
              <a:buSzPct val="100000"/>
              <a:buChar char="▪"/>
            </a:pPr>
            <a:r>
              <a:rPr lang="en-US" sz="125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systematic tropical challenges</a:t>
            </a:r>
            <a:r>
              <a:rPr lang="en-US" sz="125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unresolved taxonomy · uncalibrated tolerance values · missing reference conditions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700"/>
              </a:spcAft>
              <a:buSzPct val="100000"/>
              <a:buChar char="▪"/>
            </a:pPr>
            <a:r>
              <a:rPr lang="en-US" sz="125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Dedieu et al. (2016): indices from one neotropical region may fail in another — </a:t>
            </a:r>
            <a:r>
              <a:rPr lang="en-US" sz="125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regional calibration essential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700"/>
              </a:spcAft>
              <a:buSzPct val="100000"/>
              <a:buChar char="▪"/>
            </a:pPr>
            <a:r>
              <a:rPr lang="en-US" sz="125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A </a:t>
            </a:r>
            <a:r>
              <a:rPr lang="en-US" sz="1250" i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Baetidae</a:t>
            </a:r>
            <a:r>
              <a:rPr lang="en-US" sz="125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mayfly in Europe ≠ a </a:t>
            </a:r>
            <a:r>
              <a:rPr lang="en-US" sz="1250" i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Baetidae</a:t>
            </a:r>
            <a:r>
              <a:rPr lang="en-US" sz="125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mayfly in Guyana (different species, different baselines)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700"/>
              </a:spcAft>
              <a:buSzPct val="100000"/>
              <a:buChar char="▪"/>
            </a:pPr>
            <a:r>
              <a:rPr lang="en-US" sz="125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bioassessment does work in the tropics</a:t>
            </a:r>
            <a:r>
              <a:rPr lang="en-US" sz="125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— Tampo et al. (2021): EPT/ASPT/BMWP robust in Togolese rivers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700"/>
              </a:spcAft>
              <a:buSzPct val="100000"/>
              <a:buChar char="▪"/>
            </a:pPr>
            <a:r>
              <a:rPr lang="en-US" sz="125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French Guiana (WFD)</a:t>
            </a:r>
            <a:r>
              <a:rPr lang="en-US" sz="125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IBMG macroinvertebrate index + French Guiana Diatomic Index — the closest analogue to what Guyana would need</a:t>
            </a:r>
            <a:endParaRPr lang="en-US" sz="125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081E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28600"/>
            <a:ext cx="8412480" cy="502920"/>
          </a:xfrm>
          <a:prstGeom prst="rect">
            <a:avLst/>
          </a:prstGeom>
          <a:solidFill>
            <a:srgbClr val="0B2A3C"/>
          </a:solidFill>
          <a:ln w="12700">
            <a:solidFill>
              <a:srgbClr val="0B2A3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228600"/>
            <a:ext cx="73152" cy="502920"/>
          </a:xfrm>
          <a:prstGeom prst="rect">
            <a:avLst/>
          </a:prstGeom>
          <a:solidFill>
            <a:srgbClr val="E4A010"/>
          </a:solidFill>
          <a:ln w="12700">
            <a:solidFill>
              <a:srgbClr val="E4A01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228600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 Voids &amp; Research Opportunities in Guyana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7200" y="4754880"/>
            <a:ext cx="8229600" cy="13716"/>
          </a:xfrm>
          <a:prstGeom prst="rect">
            <a:avLst/>
          </a:prstGeom>
          <a:solidFill>
            <a:srgbClr val="E4A010"/>
          </a:solidFill>
          <a:ln w="12700">
            <a:solidFill>
              <a:srgbClr val="E4A01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479602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8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Limnology</a:t>
            </a:r>
            <a:r>
              <a:rPr lang="en-US" sz="900" dirty="0">
                <a:solidFill>
                  <a:srgbClr val="E4A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  │   </a:t>
            </a:r>
            <a:r>
              <a:rPr lang="en-US" sz="900" dirty="0">
                <a:solidFill>
                  <a:srgbClr val="6B8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of Guyana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65760" y="777240"/>
            <a:ext cx="4937760" cy="3886200"/>
          </a:xfrm>
          <a:prstGeom prst="rect">
            <a:avLst/>
          </a:prstGeom>
          <a:solidFill>
            <a:srgbClr val="F7F9FB"/>
          </a:solidFill>
          <a:ln w="12700">
            <a:solidFill>
              <a:srgbClr val="F7F9F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868680"/>
            <a:ext cx="4709160" cy="370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500"/>
              </a:spcAft>
              <a:buSzPct val="100000"/>
              <a:buChar char="▪"/>
            </a:pPr>
            <a:r>
              <a:rPr lang="en-US" sz="105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~0</a:t>
            </a:r>
            <a:r>
              <a:rPr lang="en-US" sz="105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published phytoplankton or zooplankton data for Guyanese freshwaters</a:t>
            </a:r>
            <a:endParaRPr lang="en-US" sz="1050" dirty="0"/>
          </a:p>
          <a:p>
            <a:pPr marL="342900" indent="-342900">
              <a:lnSpc>
                <a:spcPct val="115000"/>
              </a:lnSpc>
              <a:spcAft>
                <a:spcPts val="500"/>
              </a:spcAft>
              <a:buSzPct val="100000"/>
              <a:buChar char="▪"/>
            </a:pPr>
            <a:r>
              <a:rPr lang="en-US" sz="105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~0</a:t>
            </a:r>
            <a:r>
              <a:rPr lang="en-US" sz="105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macroinvertebrate tolerance values calibrated for Guiana Shield taxa</a:t>
            </a:r>
            <a:endParaRPr lang="en-US" sz="1050" dirty="0"/>
          </a:p>
          <a:p>
            <a:pPr marL="342900" indent="-342900">
              <a:lnSpc>
                <a:spcPct val="115000"/>
              </a:lnSpc>
              <a:spcAft>
                <a:spcPts val="500"/>
              </a:spcAft>
              <a:buSzPct val="100000"/>
              <a:buChar char="▪"/>
            </a:pPr>
            <a:r>
              <a:rPr lang="en-US" sz="105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~0</a:t>
            </a:r>
            <a:r>
              <a:rPr lang="en-US" sz="105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diatom training sets for Guiana Shield transfer functions</a:t>
            </a:r>
            <a:endParaRPr lang="en-US" sz="1050" dirty="0"/>
          </a:p>
          <a:p>
            <a:pPr marL="342900" indent="-342900">
              <a:lnSpc>
                <a:spcPct val="115000"/>
              </a:lnSpc>
              <a:spcAft>
                <a:spcPts val="500"/>
              </a:spcAft>
              <a:buSzPct val="100000"/>
              <a:buChar char="▪"/>
            </a:pPr>
            <a:r>
              <a:rPr lang="en-US" sz="105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 Rupununi</a:t>
            </a:r>
            <a:r>
              <a:rPr lang="en-US" sz="105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22,000 ha, 750+ lakes, 450+ fish species — a plankton ecologist's dream, unsampled</a:t>
            </a:r>
            <a:endParaRPr lang="en-US" sz="1050" dirty="0"/>
          </a:p>
          <a:p>
            <a:pPr marL="342900" indent="-342900">
              <a:lnSpc>
                <a:spcPct val="115000"/>
              </a:lnSpc>
              <a:spcAft>
                <a:spcPts val="500"/>
              </a:spcAft>
              <a:buSzPct val="100000"/>
              <a:buChar char="▪"/>
            </a:pPr>
            <a:r>
              <a:rPr lang="en-US" sz="105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EDWC</a:t>
            </a:r>
            <a:r>
              <a:rPr lang="en-US" sz="105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drinking-water source — phytoplankton + ELISA microcystin screening = direct public health value</a:t>
            </a:r>
            <a:endParaRPr lang="en-US" sz="1050" dirty="0"/>
          </a:p>
          <a:p>
            <a:pPr marL="342900" indent="-342900">
              <a:lnSpc>
                <a:spcPct val="115000"/>
              </a:lnSpc>
              <a:spcAft>
                <a:spcPts val="500"/>
              </a:spcAft>
              <a:buSzPct val="100000"/>
              <a:buChar char="▪"/>
            </a:pPr>
            <a:r>
              <a:rPr lang="en-US" sz="105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Mazaruni / Potaro / Cuyuni</a:t>
            </a:r>
            <a:r>
              <a:rPr lang="en-US" sz="105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upstream–downstream paired sites — bridges to Week 9 (ASGM)</a:t>
            </a:r>
            <a:endParaRPr lang="en-US" sz="1050" dirty="0"/>
          </a:p>
          <a:p>
            <a:pPr marL="342900" indent="-342900">
              <a:lnSpc>
                <a:spcPct val="115000"/>
              </a:lnSpc>
              <a:spcAft>
                <a:spcPts val="500"/>
              </a:spcAft>
              <a:buSzPct val="100000"/>
              <a:buChar char="▪"/>
            </a:pPr>
            <a:r>
              <a:rPr lang="en-US" sz="105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zero is a publishable first-of-kind — kick-net under US$100, microscope, plankton net, consistent sampling</a:t>
            </a:r>
            <a:endParaRPr lang="en-US" sz="1050" dirty="0"/>
          </a:p>
        </p:txBody>
      </p:sp>
      <p:pic>
        <p:nvPicPr>
          <p:cNvPr id="9" name="Image 0" descr="kick_net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40680" y="822960"/>
            <a:ext cx="3611880" cy="374904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5440680" y="4370832"/>
            <a:ext cx="3611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Kick-net sampling — field-deployable, low-cost, effective</a:t>
            </a:r>
            <a:endParaRPr lang="en-US" sz="85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081E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28600"/>
            <a:ext cx="8412480" cy="502920"/>
          </a:xfrm>
          <a:prstGeom prst="rect">
            <a:avLst/>
          </a:prstGeom>
          <a:solidFill>
            <a:srgbClr val="0B2A3C"/>
          </a:solidFill>
          <a:ln w="12700">
            <a:solidFill>
              <a:srgbClr val="0B2A3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228600"/>
            <a:ext cx="73152" cy="502920"/>
          </a:xfrm>
          <a:prstGeom prst="rect">
            <a:avLst/>
          </a:prstGeom>
          <a:solidFill>
            <a:srgbClr val="E4A010"/>
          </a:solidFill>
          <a:ln w="12700">
            <a:solidFill>
              <a:srgbClr val="E4A01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228600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Takeaways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7200" y="4754880"/>
            <a:ext cx="8229600" cy="13716"/>
          </a:xfrm>
          <a:prstGeom prst="rect">
            <a:avLst/>
          </a:prstGeom>
          <a:solidFill>
            <a:srgbClr val="E4A010"/>
          </a:solidFill>
          <a:ln w="12700">
            <a:solidFill>
              <a:srgbClr val="E4A01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479602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8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Limnology</a:t>
            </a:r>
            <a:r>
              <a:rPr lang="en-US" sz="900" dirty="0">
                <a:solidFill>
                  <a:srgbClr val="E4A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  │   </a:t>
            </a:r>
            <a:r>
              <a:rPr lang="en-US" sz="900" dirty="0">
                <a:solidFill>
                  <a:srgbClr val="6B8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of Guyana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65760" y="777240"/>
            <a:ext cx="8412480" cy="3909060"/>
          </a:xfrm>
          <a:prstGeom prst="rect">
            <a:avLst/>
          </a:prstGeom>
          <a:solidFill>
            <a:srgbClr val="F7F9FB"/>
          </a:solidFill>
          <a:ln w="12700">
            <a:solidFill>
              <a:srgbClr val="F7F9F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960120"/>
            <a:ext cx="786384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500"/>
              </a:spcAft>
              <a:buSzPct val="100000"/>
              <a:buChar char="▪"/>
            </a:pPr>
            <a:r>
              <a:rPr lang="en-US" sz="12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Phytoplankton </a:t>
            </a:r>
            <a:r>
              <a:rPr lang="en-US" sz="12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composition ≠ biomass</a:t>
            </a:r>
            <a:r>
              <a:rPr lang="en-US" sz="12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— Reynolds functional groups predict community responses</a:t>
            </a:r>
            <a:endParaRPr lang="en-US" sz="1200" dirty="0"/>
          </a:p>
          <a:p>
            <a:pPr marL="342900" indent="-342900">
              <a:lnSpc>
                <a:spcPct val="115000"/>
              </a:lnSpc>
              <a:spcAft>
                <a:spcPts val="500"/>
              </a:spcAft>
              <a:buSzPct val="100000"/>
              <a:buChar char="▪"/>
            </a:pPr>
            <a:r>
              <a:rPr lang="en-US" sz="1200" i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Daphnia</a:t>
            </a:r>
            <a:r>
              <a:rPr lang="en-US" sz="12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is the keystone grazer — 250× filtering advantage; doubling in 3 days; body size gated by fish predation</a:t>
            </a:r>
            <a:endParaRPr lang="en-US" sz="1200" dirty="0"/>
          </a:p>
          <a:p>
            <a:pPr marL="342900" indent="-342900">
              <a:lnSpc>
                <a:spcPct val="115000"/>
              </a:lnSpc>
              <a:spcAft>
                <a:spcPts val="500"/>
              </a:spcAft>
              <a:buSzPct val="100000"/>
              <a:buChar char="▪"/>
            </a:pPr>
            <a:r>
              <a:rPr lang="en-US" sz="12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Trophic cascades work — but </a:t>
            </a:r>
            <a:r>
              <a:rPr lang="en-US" sz="12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 is nutrient reduction</a:t>
            </a:r>
            <a:r>
              <a:rPr lang="en-US" sz="12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; tropical cascades weakened by omnivory + small zooplankton</a:t>
            </a:r>
            <a:endParaRPr lang="en-US" sz="1200" dirty="0"/>
          </a:p>
          <a:p>
            <a:pPr marL="342900" indent="-342900">
              <a:lnSpc>
                <a:spcPct val="115000"/>
              </a:lnSpc>
              <a:spcAft>
                <a:spcPts val="500"/>
              </a:spcAft>
              <a:buSzPct val="100000"/>
              <a:buChar char="▪"/>
            </a:pPr>
            <a:r>
              <a:rPr lang="en-US" sz="12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Chemistry = snapshot; biology = diary</a:t>
            </a:r>
            <a:r>
              <a:rPr lang="en-US" sz="12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Bioassessment integrates conditions over time</a:t>
            </a:r>
            <a:endParaRPr lang="en-US" sz="1200" dirty="0"/>
          </a:p>
          <a:p>
            <a:pPr marL="342900" indent="-342900">
              <a:lnSpc>
                <a:spcPct val="115000"/>
              </a:lnSpc>
              <a:spcAft>
                <a:spcPts val="500"/>
              </a:spcAft>
              <a:buSzPct val="100000"/>
              <a:buChar char="▪"/>
            </a:pPr>
            <a:r>
              <a:rPr lang="en-US" sz="12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ASPT &gt;6 = Good–High · &lt;4.5 = significant impairment</a:t>
            </a:r>
            <a:r>
              <a:rPr lang="en-US" sz="12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— remember the thresholds</a:t>
            </a:r>
            <a:endParaRPr lang="en-US" sz="1200" dirty="0"/>
          </a:p>
          <a:p>
            <a:pPr marL="342900" indent="-342900">
              <a:lnSpc>
                <a:spcPct val="115000"/>
              </a:lnSpc>
              <a:spcAft>
                <a:spcPts val="500"/>
              </a:spcAft>
              <a:buSzPct val="100000"/>
              <a:buChar char="▪"/>
            </a:pPr>
            <a:r>
              <a:rPr lang="en-US" sz="12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Diatom transfer functions</a:t>
            </a:r>
            <a:r>
              <a:rPr lang="en-US" sz="12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reconstruct past environments from sediment cores — but need regional training sets (none exist for the Guiana Shield)</a:t>
            </a:r>
            <a:endParaRPr lang="en-US" sz="1200" dirty="0"/>
          </a:p>
          <a:p>
            <a:pPr marL="342900" indent="-342900">
              <a:lnSpc>
                <a:spcPct val="115000"/>
              </a:lnSpc>
              <a:spcAft>
                <a:spcPts val="500"/>
              </a:spcAft>
              <a:buSzPct val="100000"/>
              <a:buChar char="▪"/>
            </a:pPr>
            <a:r>
              <a:rPr lang="en-US" sz="12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Guyana's zeros are research frontiers</a:t>
            </a:r>
            <a:r>
              <a:rPr lang="en-US" sz="12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— every baseline study is publishable</a:t>
            </a:r>
            <a:endParaRPr lang="en-US" sz="12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081E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0" b="1" dirty="0">
                <a:solidFill>
                  <a:srgbClr val="E4A0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</a:t>
            </a:r>
            <a:endParaRPr lang="en-US" sz="8000" dirty="0"/>
          </a:p>
        </p:txBody>
      </p:sp>
      <p:sp>
        <p:nvSpPr>
          <p:cNvPr id="3" name="Text 1"/>
          <p:cNvSpPr/>
          <p:nvPr/>
        </p:nvSpPr>
        <p:spPr>
          <a:xfrm>
            <a:off x="731520" y="1051560"/>
            <a:ext cx="7772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800" i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Limnology might be defined as the study of the factors that determine what species of organisms are present in a given body of water, and in what numbers.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31520" y="274320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6B8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G. Evelyn Hutchinson, A Treatise on Limnology (1957)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31520" y="3337560"/>
            <a:ext cx="7772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i="1" dirty="0">
                <a:solidFill>
                  <a:srgbClr val="17BEB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Paraphrasing Ruth Patrick (1949): the organisms living in a body of water offer us a picture of the sum of all factors that have been at work on them — telling us more about conditions than chemistry alone.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4754880"/>
            <a:ext cx="8229600" cy="13716"/>
          </a:xfrm>
          <a:prstGeom prst="rect">
            <a:avLst/>
          </a:prstGeom>
          <a:solidFill>
            <a:srgbClr val="E4A010"/>
          </a:solidFill>
          <a:ln w="12700">
            <a:solidFill>
              <a:srgbClr val="E4A01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479602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8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Limnology</a:t>
            </a:r>
            <a:r>
              <a:rPr lang="en-US" sz="900" dirty="0">
                <a:solidFill>
                  <a:srgbClr val="E4A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  │   </a:t>
            </a:r>
            <a:r>
              <a:rPr lang="en-US" sz="900" dirty="0">
                <a:solidFill>
                  <a:srgbClr val="6B8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of Guyana</a:t>
            </a:r>
            <a:endParaRPr lang="en-US" sz="9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081E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28600"/>
            <a:ext cx="8412480" cy="502920"/>
          </a:xfrm>
          <a:prstGeom prst="rect">
            <a:avLst/>
          </a:prstGeom>
          <a:solidFill>
            <a:srgbClr val="0B2A3C"/>
          </a:solidFill>
          <a:ln w="12700">
            <a:solidFill>
              <a:srgbClr val="0B2A3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228600"/>
            <a:ext cx="73152" cy="502920"/>
          </a:xfrm>
          <a:prstGeom prst="rect">
            <a:avLst/>
          </a:prstGeom>
          <a:solidFill>
            <a:srgbClr val="E4A010"/>
          </a:solidFill>
          <a:ln w="12700">
            <a:solidFill>
              <a:srgbClr val="E4A01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228600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Next Week — Pollution I: Visible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7200" y="4754880"/>
            <a:ext cx="8229600" cy="13716"/>
          </a:xfrm>
          <a:prstGeom prst="rect">
            <a:avLst/>
          </a:prstGeom>
          <a:solidFill>
            <a:srgbClr val="E4A010"/>
          </a:solidFill>
          <a:ln w="12700">
            <a:solidFill>
              <a:srgbClr val="E4A01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479602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8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Limnology</a:t>
            </a:r>
            <a:r>
              <a:rPr lang="en-US" sz="900" dirty="0">
                <a:solidFill>
                  <a:srgbClr val="E4A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  │   </a:t>
            </a:r>
            <a:r>
              <a:rPr lang="en-US" sz="900" dirty="0">
                <a:solidFill>
                  <a:srgbClr val="6B8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of Guyana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65760" y="777240"/>
            <a:ext cx="8412480" cy="3909060"/>
          </a:xfrm>
          <a:prstGeom prst="rect">
            <a:avLst/>
          </a:prstGeom>
          <a:solidFill>
            <a:srgbClr val="F7F9FB"/>
          </a:solidFill>
          <a:ln w="12700">
            <a:solidFill>
              <a:srgbClr val="F7F9F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960120"/>
            <a:ext cx="78638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700"/>
              </a:spcAft>
              <a:buSzPct val="100000"/>
              <a:buChar char="▪"/>
            </a:pPr>
            <a:r>
              <a:rPr lang="en-US" sz="13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Applying today's tools to Guyana's most pressing freshwater challenge: artisanal and small-scale gold mining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700"/>
              </a:spcAft>
              <a:buSzPct val="100000"/>
              <a:buChar char="▪"/>
            </a:pPr>
            <a:r>
              <a:rPr lang="en-US" sz="13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Mercury biogeochemistry · bioaccumulation through food webs · turbidity · acid mine drainage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700"/>
              </a:spcAft>
              <a:buSzPct val="100000"/>
              <a:buChar char="▪"/>
            </a:pPr>
            <a:r>
              <a:rPr lang="en-US" sz="13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bioassessment methods are exactly the tools you'd use to quantify mining's ecological damage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40080" y="2697480"/>
            <a:ext cx="7863840" cy="1691640"/>
          </a:xfrm>
          <a:prstGeom prst="rect">
            <a:avLst/>
          </a:prstGeom>
          <a:solidFill>
            <a:srgbClr val="EDEEF1"/>
          </a:solidFill>
          <a:ln w="12700">
            <a:solidFill>
              <a:srgbClr val="E4A01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2788920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E4A01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Synthesis question to sit with: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822960" y="3108960"/>
            <a:ext cx="74980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i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Given what you've learned about tropical cascades and the absence of baseline data, what approach would you recommend for managing a eutrophic lake in Guyana's coastal plain? Would you attempt biomanipulation — why or why not?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35</Slides>
  <Notes>35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3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Weeks 7-8 Combined: Plankton Ecology, Bioassessment &amp; Monitoring</dc:title>
  <dc:subject>PptxGenJS Presentation</dc:subject>
  <dc:creator>Ajay Persaud</dc:creator>
  <cp:lastModifiedBy>Ajay Persaud</cp:lastModifiedBy>
  <cp:revision>1</cp:revision>
  <dcterms:created xsi:type="dcterms:W3CDTF">2026-04-17T23:00:08Z</dcterms:created>
  <dcterms:modified xsi:type="dcterms:W3CDTF">2026-04-17T23:00:08Z</dcterms:modified>
</cp:coreProperties>
</file>